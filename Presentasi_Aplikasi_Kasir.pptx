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5" r:id="rId10"/>
    <p:sldId id="266" r:id="rId11"/>
    <p:sldId id="264"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59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perkenalkan saya akan mempresentasikan tugas Aplikasi Kasir atau Point of Sale sederhana yang dibangun menggunakan Java Swing dan NetBeans, tanpa database maupun server.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tugas ini adalah kebutuhan pencatatan transaksi yang cepat dan akurat pada usaha kecil. Tujuannya membangun aplikasi kasir sederhana sekaligus menerapkan konsep pemrograman berorientasi objek.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ini memiliki empat batasan utama: tidak menggunakan database, tidak menggunakan server, berjalan sebagai aplikasi desktop lokal, dan seluruh data disimpan sementara di memori menggunakan ArrayList.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Teknologi yang digunakan ada tiga: bahasa pemrograman Java sebagai inti logika, Java Swing sebagai pustaka antarmuka grafis, dan NetBeans sebagai IDE untuk menulis serta menjalankan program.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dibangun dengan empat kelas utama. Main.java menjalankan aplikasi, KasirFrame.java berisi tampilan sekaligus logika kasir, sedangkan Product.java dan CartItem.java adalah kelas model data barang dan item keranjang.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adalah flowchart alur logika program secara keseluruhan, mulai dari menampilkan produk, memilih barang, validasi stok, hingga proses pembayaran dan struk. Empat titik penting ditandai di sebelah kanan.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Secara detail, alur program berjalan dalam tujuh langkah, mulai dari menampilkan form kasir hingga menampilkan struk belanja setelah pembayaran berhasil divalidasi.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adalah rancangan tampilan antarmuka program. Panel kiri menampilkan daftar produk beserta tombol tambah ke keranjang, sedangkan panel kanan menampilkan keranjang belanja, total, dan tombol bayar.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contoh skenario eksekusi program: pengguna memilih dua produk, melakukan checkout dengan uang lebih dari total belanja, sehingga sistem menghitung kembalian, mengurangi stok, dan menampilkan struk secara otomatis.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Secara ringkas, program ini memiliki enam fitur dan validasi utama: validasi stok, perhitungan total otomatis, validasi pembayaran, perhitungan kembalian, pencetakan struk otomatis, dan pembaruan stok secara real-time.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menjalankan program, langkahnya adalah: buat project Java Application baru di NetBeans, tambahkan package dan file program, lalu jalankan file Main.java menggunakan Run File atau tombol Shift+F6.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aplikasi kasir sederhana ini berhasil dibangun sesuai tujuan awal. Beberapa saran pengembangan ke depan antara lain menambahkan database, fitur login, dan tampilan yang lebih interaktif. Terima kasih atas perhatiannya.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7.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869680" y="-1554480"/>
            <a:ext cx="5120640" cy="5120640"/>
          </a:xfrm>
          <a:prstGeom prst="ellipse">
            <a:avLst/>
          </a:prstGeom>
          <a:solidFill>
            <a:srgbClr val="141B45"/>
          </a:solidFill>
          <a:ln/>
        </p:spPr>
      </p:sp>
      <p:sp>
        <p:nvSpPr>
          <p:cNvPr id="3" name="Shape 1"/>
          <p:cNvSpPr/>
          <p:nvPr/>
        </p:nvSpPr>
        <p:spPr>
          <a:xfrm>
            <a:off x="10058400" y="4206240"/>
            <a:ext cx="3017520" cy="3017520"/>
          </a:xfrm>
          <a:prstGeom prst="ellipse">
            <a:avLst/>
          </a:prstGeom>
          <a:solidFill>
            <a:srgbClr val="141B45"/>
          </a:solidFill>
          <a:ln/>
        </p:spPr>
      </p:sp>
      <p:sp>
        <p:nvSpPr>
          <p:cNvPr id="6" name="Text 4"/>
          <p:cNvSpPr/>
          <p:nvPr/>
        </p:nvSpPr>
        <p:spPr>
          <a:xfrm>
            <a:off x="3292876" y="1115985"/>
            <a:ext cx="4813069" cy="8686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APLIKASI KASIR</a:t>
            </a:r>
            <a:endParaRPr lang="en-US" sz="4600" dirty="0"/>
          </a:p>
        </p:txBody>
      </p:sp>
      <p:sp>
        <p:nvSpPr>
          <p:cNvPr id="7" name="Text 5"/>
          <p:cNvSpPr/>
          <p:nvPr/>
        </p:nvSpPr>
        <p:spPr>
          <a:xfrm>
            <a:off x="4527317" y="1993381"/>
            <a:ext cx="2344189" cy="301798"/>
          </a:xfrm>
          <a:prstGeom prst="rect">
            <a:avLst/>
          </a:prstGeom>
          <a:noFill/>
          <a:ln/>
        </p:spPr>
        <p:txBody>
          <a:bodyPr wrap="square" lIns="0" tIns="0" rIns="0" bIns="0" rtlCol="0" anchor="ctr"/>
          <a:lstStyle/>
          <a:p>
            <a:pPr marL="0" indent="0" algn="ctr">
              <a:buNone/>
            </a:pPr>
            <a:r>
              <a:rPr lang="en-US" b="1" dirty="0">
                <a:solidFill>
                  <a:srgbClr val="CADCFC"/>
                </a:solidFill>
                <a:latin typeface="Cambria" pitchFamily="34" charset="0"/>
                <a:ea typeface="Cambria" pitchFamily="34" charset="-122"/>
                <a:cs typeface="Cambria" pitchFamily="34" charset="-120"/>
              </a:rPr>
              <a:t>(POINT OF SALE) </a:t>
            </a:r>
            <a:endParaRPr lang="en-US" dirty="0"/>
          </a:p>
        </p:txBody>
      </p:sp>
      <p:pic>
        <p:nvPicPr>
          <p:cNvPr id="17" name="Picture 16">
            <a:extLst>
              <a:ext uri="{FF2B5EF4-FFF2-40B4-BE49-F238E27FC236}">
                <a16:creationId xmlns:a16="http://schemas.microsoft.com/office/drawing/2014/main" id="{AB7ADB4E-69B5-0940-6317-8C857AE9CA13}"/>
              </a:ext>
            </a:extLst>
          </p:cNvPr>
          <p:cNvPicPr>
            <a:picLocks noChangeAspect="1"/>
          </p:cNvPicPr>
          <p:nvPr/>
        </p:nvPicPr>
        <p:blipFill>
          <a:blip r:embed="rId3"/>
          <a:stretch>
            <a:fillRect/>
          </a:stretch>
        </p:blipFill>
        <p:spPr>
          <a:xfrm>
            <a:off x="440575" y="182880"/>
            <a:ext cx="1473687" cy="530398"/>
          </a:xfrm>
          <a:prstGeom prst="rect">
            <a:avLst/>
          </a:prstGeom>
        </p:spPr>
      </p:pic>
      <p:sp>
        <p:nvSpPr>
          <p:cNvPr id="19" name="TextBox 18">
            <a:extLst>
              <a:ext uri="{FF2B5EF4-FFF2-40B4-BE49-F238E27FC236}">
                <a16:creationId xmlns:a16="http://schemas.microsoft.com/office/drawing/2014/main" id="{EE06DB23-E5F8-5099-7008-A8DEB894A613}"/>
              </a:ext>
            </a:extLst>
          </p:cNvPr>
          <p:cNvSpPr txBox="1"/>
          <p:nvPr/>
        </p:nvSpPr>
        <p:spPr>
          <a:xfrm>
            <a:off x="3599411" y="528612"/>
            <a:ext cx="4200005" cy="369332"/>
          </a:xfrm>
          <a:prstGeom prst="rect">
            <a:avLst/>
          </a:prstGeom>
          <a:noFill/>
        </p:spPr>
        <p:txBody>
          <a:bodyPr wrap="square">
            <a:spAutoFit/>
          </a:bodyPr>
          <a:lstStyle/>
          <a:p>
            <a:pPr marL="0" indent="0" algn="ctr">
              <a:buNone/>
            </a:pPr>
            <a:r>
              <a:rPr lang="en-US" sz="1800" b="1" kern="0" spc="300" dirty="0">
                <a:solidFill>
                  <a:srgbClr val="F2A900"/>
                </a:solidFill>
                <a:latin typeface="Calibri" pitchFamily="34" charset="0"/>
                <a:ea typeface="Calibri" pitchFamily="34" charset="-122"/>
                <a:cs typeface="Calibri" pitchFamily="34" charset="-120"/>
              </a:rPr>
              <a:t>FINAL PROJECT KELOMPOK 5</a:t>
            </a:r>
            <a:endParaRPr lang="en-US" sz="1800" dirty="0"/>
          </a:p>
        </p:txBody>
      </p:sp>
      <p:sp>
        <p:nvSpPr>
          <p:cNvPr id="20" name="Text 7">
            <a:extLst>
              <a:ext uri="{FF2B5EF4-FFF2-40B4-BE49-F238E27FC236}">
                <a16:creationId xmlns:a16="http://schemas.microsoft.com/office/drawing/2014/main" id="{74652F19-B64F-7164-A903-5A17CCD91DAE}"/>
              </a:ext>
            </a:extLst>
          </p:cNvPr>
          <p:cNvSpPr/>
          <p:nvPr/>
        </p:nvSpPr>
        <p:spPr>
          <a:xfrm>
            <a:off x="3687730" y="2786409"/>
            <a:ext cx="4023360" cy="189322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2000" b="1" noProof="1">
                <a:solidFill>
                  <a:srgbClr val="FFFFFF"/>
                </a:solidFill>
                <a:latin typeface="Calibri" pitchFamily="34" charset="0"/>
                <a:ea typeface="Calibri" pitchFamily="34" charset="-122"/>
                <a:cs typeface="Calibri" pitchFamily="34" charset="-120"/>
              </a:rPr>
              <a:t>Rifqy Ardian Adinata	(17250522)</a:t>
            </a:r>
          </a:p>
          <a:p>
            <a:pPr>
              <a:spcAft>
                <a:spcPts val="600"/>
              </a:spcAft>
            </a:pPr>
            <a:r>
              <a:rPr lang="en-US" sz="2000" b="1" noProof="1">
                <a:solidFill>
                  <a:srgbClr val="FFFFFF"/>
                </a:solidFill>
                <a:latin typeface="Calibri" pitchFamily="34" charset="0"/>
                <a:ea typeface="Calibri" pitchFamily="34" charset="-122"/>
                <a:cs typeface="Calibri" pitchFamily="34" charset="-120"/>
              </a:rPr>
              <a:t>Reza Mahendra		(17250007)</a:t>
            </a:r>
          </a:p>
          <a:p>
            <a:pPr>
              <a:spcAft>
                <a:spcPts val="600"/>
              </a:spcAft>
            </a:pPr>
            <a:r>
              <a:rPr lang="en-US" sz="2000" b="1" noProof="1">
                <a:solidFill>
                  <a:srgbClr val="FFFFFF"/>
                </a:solidFill>
                <a:latin typeface="Calibri" pitchFamily="34" charset="0"/>
                <a:ea typeface="Calibri" pitchFamily="34" charset="-122"/>
                <a:cs typeface="Calibri" pitchFamily="34" charset="-120"/>
              </a:rPr>
              <a:t>Fitria Haryani		(17250012)</a:t>
            </a:r>
          </a:p>
          <a:p>
            <a:pPr>
              <a:spcAft>
                <a:spcPts val="600"/>
              </a:spcAft>
            </a:pPr>
            <a:r>
              <a:rPr lang="en-US" sz="2000" b="1" noProof="1">
                <a:solidFill>
                  <a:srgbClr val="FFFFFF"/>
                </a:solidFill>
                <a:latin typeface="Calibri" pitchFamily="34" charset="0"/>
                <a:ea typeface="Calibri" pitchFamily="34" charset="-122"/>
                <a:cs typeface="Calibri" pitchFamily="34" charset="-120"/>
              </a:rPr>
              <a:t>Cheril Aprillia Putri	(17250385)</a:t>
            </a:r>
          </a:p>
          <a:p>
            <a:pPr>
              <a:spcAft>
                <a:spcPts val="600"/>
              </a:spcAft>
            </a:pPr>
            <a:r>
              <a:rPr lang="en-US" sz="2000" b="1" noProof="1">
                <a:solidFill>
                  <a:srgbClr val="FFFFFF"/>
                </a:solidFill>
                <a:latin typeface="Calibri" pitchFamily="34" charset="0"/>
                <a:ea typeface="Calibri" pitchFamily="34" charset="-122"/>
                <a:cs typeface="Calibri" pitchFamily="34" charset="-120"/>
              </a:rPr>
              <a:t>Muhamad Bagas Triandy	(17250036)</a:t>
            </a:r>
            <a:endParaRPr lang="en-US" sz="2000" noProof="1"/>
          </a:p>
        </p:txBody>
      </p:sp>
      <p:sp>
        <p:nvSpPr>
          <p:cNvPr id="21" name="Text 8">
            <a:extLst>
              <a:ext uri="{FF2B5EF4-FFF2-40B4-BE49-F238E27FC236}">
                <a16:creationId xmlns:a16="http://schemas.microsoft.com/office/drawing/2014/main" id="{224495B6-F61D-9E74-3A46-C157A025CDD1}"/>
              </a:ext>
            </a:extLst>
          </p:cNvPr>
          <p:cNvSpPr/>
          <p:nvPr/>
        </p:nvSpPr>
        <p:spPr>
          <a:xfrm>
            <a:off x="440575" y="6318997"/>
            <a:ext cx="73152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noProof="1">
                <a:solidFill>
                  <a:schemeClr val="accent3">
                    <a:lumMod val="20000"/>
                    <a:lumOff val="80000"/>
                  </a:schemeClr>
                </a:solidFill>
                <a:latin typeface="Calibri" pitchFamily="34" charset="0"/>
                <a:ea typeface="Calibri" pitchFamily="34" charset="-122"/>
                <a:cs typeface="Calibri" pitchFamily="34" charset="-120"/>
              </a:rPr>
              <a:t>Teknologi Informasi • Universitas Bina Sarana Informatika</a:t>
            </a:r>
            <a:endParaRPr lang="en-US" sz="1100" noProof="1">
              <a:solidFill>
                <a:schemeClr val="accent3">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PENDAHULUAN</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Latar Belakang &amp; Tujuan</a:t>
            </a:r>
            <a:endParaRPr lang="en-US" sz="2800" dirty="0"/>
          </a:p>
        </p:txBody>
      </p:sp>
      <p:sp>
        <p:nvSpPr>
          <p:cNvPr id="4" name="Shape 2"/>
          <p:cNvSpPr/>
          <p:nvPr/>
        </p:nvSpPr>
        <p:spPr>
          <a:xfrm>
            <a:off x="548640" y="1508760"/>
            <a:ext cx="5394960" cy="4709160"/>
          </a:xfrm>
          <a:prstGeom prst="roundRect">
            <a:avLst>
              <a:gd name="adj" fmla="val 1748"/>
            </a:avLst>
          </a:prstGeom>
          <a:solidFill>
            <a:srgbClr val="EEF3FD"/>
          </a:solidFill>
          <a:ln/>
          <a:effectLst>
            <a:outerShdw blurRad="101600" dist="38100" dir="2700000" algn="bl" rotWithShape="0">
              <a:srgbClr val="000000">
                <a:alpha val="12000"/>
              </a:srgbClr>
            </a:outerShdw>
          </a:effectLst>
        </p:spPr>
      </p:sp>
      <p:sp>
        <p:nvSpPr>
          <p:cNvPr id="5" name="Shape 3"/>
          <p:cNvSpPr/>
          <p:nvPr/>
        </p:nvSpPr>
        <p:spPr>
          <a:xfrm>
            <a:off x="868680" y="1828800"/>
            <a:ext cx="594360" cy="594360"/>
          </a:xfrm>
          <a:prstGeom prst="ellipse">
            <a:avLst/>
          </a:prstGeom>
          <a:solidFill>
            <a:srgbClr val="CADCFC"/>
          </a:solidFill>
          <a:ln/>
        </p:spPr>
      </p:sp>
      <p:pic>
        <p:nvPicPr>
          <p:cNvPr id="6" name="Image 0" descr="preencoded.png"/>
          <p:cNvPicPr>
            <a:picLocks noChangeAspect="1"/>
          </p:cNvPicPr>
          <p:nvPr/>
        </p:nvPicPr>
        <p:blipFill>
          <a:blip r:embed="rId3"/>
          <a:stretch>
            <a:fillRect/>
          </a:stretch>
        </p:blipFill>
        <p:spPr>
          <a:xfrm>
            <a:off x="1023214" y="1983334"/>
            <a:ext cx="285293" cy="285293"/>
          </a:xfrm>
          <a:prstGeom prst="rect">
            <a:avLst/>
          </a:prstGeom>
        </p:spPr>
      </p:pic>
      <p:sp>
        <p:nvSpPr>
          <p:cNvPr id="7" name="Text 4"/>
          <p:cNvSpPr/>
          <p:nvPr/>
        </p:nvSpPr>
        <p:spPr>
          <a:xfrm>
            <a:off x="1600200" y="1828800"/>
            <a:ext cx="4114800" cy="457200"/>
          </a:xfrm>
          <a:prstGeom prst="rect">
            <a:avLst/>
          </a:prstGeom>
          <a:noFill/>
          <a:ln/>
        </p:spPr>
        <p:txBody>
          <a:bodyPr wrap="square" lIns="0" tIns="0" rIns="0" bIns="0" rtlCol="0" anchor="ctr"/>
          <a:lstStyle/>
          <a:p>
            <a:pPr marL="0" indent="0">
              <a:buNone/>
            </a:pPr>
            <a:r>
              <a:rPr lang="en-US" sz="1800" b="1" dirty="0">
                <a:solidFill>
                  <a:srgbClr val="141B45"/>
                </a:solidFill>
                <a:latin typeface="Cambria" pitchFamily="34" charset="0"/>
                <a:ea typeface="Cambria" pitchFamily="34" charset="-122"/>
                <a:cs typeface="Cambria" pitchFamily="34" charset="-120"/>
              </a:rPr>
              <a:t>Latar Belakang</a:t>
            </a:r>
            <a:endParaRPr lang="en-US" sz="1800" dirty="0"/>
          </a:p>
        </p:txBody>
      </p:sp>
      <p:sp>
        <p:nvSpPr>
          <p:cNvPr id="8" name="Text 5"/>
          <p:cNvSpPr/>
          <p:nvPr/>
        </p:nvSpPr>
        <p:spPr>
          <a:xfrm>
            <a:off x="868680" y="2514600"/>
            <a:ext cx="4800600" cy="3520440"/>
          </a:xfrm>
          <a:prstGeom prst="rect">
            <a:avLst/>
          </a:prstGeom>
          <a:noFill/>
          <a:ln/>
        </p:spPr>
        <p:txBody>
          <a:bodyPr wrap="square" lIns="0" tIns="0" rIns="0" bIns="0" rtlCol="0" anchor="t"/>
          <a:lstStyle/>
          <a:p>
            <a:pPr marL="0" indent="0">
              <a:lnSpc>
                <a:spcPts val="2100"/>
              </a:lnSpc>
              <a:buNone/>
            </a:pPr>
            <a:r>
              <a:rPr lang="en-US" sz="1350" dirty="0">
                <a:solidFill>
                  <a:srgbClr val="26272B"/>
                </a:solidFill>
                <a:latin typeface="Calibri" pitchFamily="34" charset="0"/>
                <a:ea typeface="Calibri" pitchFamily="34" charset="-122"/>
                <a:cs typeface="Calibri" pitchFamily="34" charset="-120"/>
              </a:rPr>
              <a:t>Transaksi penjualan di toko memerlukan pencatatan yang cepat dan akurat. Sistem Point of Sale (kasir) membantu mencatat barang terjual, menghitung total, hingga kembalian.</a:t>
            </a:r>
            <a:endParaRPr lang="en-US" sz="1350" dirty="0"/>
          </a:p>
          <a:p>
            <a:pPr marL="0" indent="0">
              <a:lnSpc>
                <a:spcPts val="2100"/>
              </a:lnSpc>
              <a:buNone/>
            </a:pPr>
            <a:endParaRPr lang="en-US" sz="1350" dirty="0"/>
          </a:p>
          <a:p>
            <a:pPr marL="0" indent="0">
              <a:lnSpc>
                <a:spcPts val="2100"/>
              </a:lnSpc>
              <a:buNone/>
            </a:pPr>
            <a:r>
              <a:rPr lang="en-US" sz="1350" dirty="0">
                <a:solidFill>
                  <a:srgbClr val="26272B"/>
                </a:solidFill>
                <a:latin typeface="Calibri" pitchFamily="34" charset="0"/>
                <a:ea typeface="Calibri" pitchFamily="34" charset="-122"/>
                <a:cs typeface="Calibri" pitchFamily="34" charset="-120"/>
              </a:rPr>
              <a:t>Sebagai media pembelajaran, dibuat aplikasi kasir sederhana berbasis Java Swing pada NetBeans, tanpa database maupun server, agar fokus pada logika program dan konsep OOP.</a:t>
            </a:r>
            <a:endParaRPr lang="en-US" sz="1350" dirty="0"/>
          </a:p>
        </p:txBody>
      </p:sp>
      <p:sp>
        <p:nvSpPr>
          <p:cNvPr id="9" name="Shape 6"/>
          <p:cNvSpPr/>
          <p:nvPr/>
        </p:nvSpPr>
        <p:spPr>
          <a:xfrm>
            <a:off x="6263640" y="1508760"/>
            <a:ext cx="5394960" cy="4709160"/>
          </a:xfrm>
          <a:prstGeom prst="roundRect">
            <a:avLst>
              <a:gd name="adj" fmla="val 1748"/>
            </a:avLst>
          </a:prstGeom>
          <a:solidFill>
            <a:srgbClr val="EEF3FD"/>
          </a:solidFill>
          <a:ln/>
          <a:effectLst>
            <a:outerShdw blurRad="101600" dist="38100" dir="2700000" algn="bl" rotWithShape="0">
              <a:srgbClr val="000000">
                <a:alpha val="12000"/>
              </a:srgbClr>
            </a:outerShdw>
          </a:effectLst>
        </p:spPr>
      </p:sp>
      <p:sp>
        <p:nvSpPr>
          <p:cNvPr id="10" name="Shape 7"/>
          <p:cNvSpPr/>
          <p:nvPr/>
        </p:nvSpPr>
        <p:spPr>
          <a:xfrm>
            <a:off x="6583680" y="1828800"/>
            <a:ext cx="594360" cy="594360"/>
          </a:xfrm>
          <a:prstGeom prst="ellipse">
            <a:avLst/>
          </a:prstGeom>
          <a:solidFill>
            <a:srgbClr val="CADCFC"/>
          </a:solidFill>
          <a:ln/>
        </p:spPr>
      </p:sp>
      <p:pic>
        <p:nvPicPr>
          <p:cNvPr id="11" name="Image 1" descr="preencoded.png"/>
          <p:cNvPicPr>
            <a:picLocks noChangeAspect="1"/>
          </p:cNvPicPr>
          <p:nvPr/>
        </p:nvPicPr>
        <p:blipFill>
          <a:blip r:embed="rId4"/>
          <a:stretch>
            <a:fillRect/>
          </a:stretch>
        </p:blipFill>
        <p:spPr>
          <a:xfrm>
            <a:off x="6738214" y="1983334"/>
            <a:ext cx="285293" cy="285293"/>
          </a:xfrm>
          <a:prstGeom prst="rect">
            <a:avLst/>
          </a:prstGeom>
        </p:spPr>
      </p:pic>
      <p:sp>
        <p:nvSpPr>
          <p:cNvPr id="12" name="Text 8"/>
          <p:cNvSpPr/>
          <p:nvPr/>
        </p:nvSpPr>
        <p:spPr>
          <a:xfrm>
            <a:off x="7315200" y="1828800"/>
            <a:ext cx="4114800" cy="457200"/>
          </a:xfrm>
          <a:prstGeom prst="rect">
            <a:avLst/>
          </a:prstGeom>
          <a:noFill/>
          <a:ln/>
        </p:spPr>
        <p:txBody>
          <a:bodyPr wrap="square" lIns="0" tIns="0" rIns="0" bIns="0" rtlCol="0" anchor="ctr"/>
          <a:lstStyle/>
          <a:p>
            <a:pPr marL="0" indent="0">
              <a:buNone/>
            </a:pPr>
            <a:r>
              <a:rPr lang="en-US" sz="1800" b="1" dirty="0">
                <a:solidFill>
                  <a:srgbClr val="141B45"/>
                </a:solidFill>
                <a:latin typeface="Cambria" pitchFamily="34" charset="0"/>
                <a:ea typeface="Cambria" pitchFamily="34" charset="-122"/>
                <a:cs typeface="Cambria" pitchFamily="34" charset="-120"/>
              </a:rPr>
              <a:t>Tujuan</a:t>
            </a:r>
            <a:endParaRPr lang="en-US" sz="1800" dirty="0"/>
          </a:p>
        </p:txBody>
      </p:sp>
      <p:sp>
        <p:nvSpPr>
          <p:cNvPr id="13" name="Text 9"/>
          <p:cNvSpPr/>
          <p:nvPr/>
        </p:nvSpPr>
        <p:spPr>
          <a:xfrm>
            <a:off x="6583680" y="2560320"/>
            <a:ext cx="4846320" cy="3383280"/>
          </a:xfrm>
          <a:prstGeom prst="rect">
            <a:avLst/>
          </a:prstGeom>
          <a:noFill/>
          <a:ln/>
        </p:spPr>
        <p:txBody>
          <a:bodyPr wrap="square" lIns="0" tIns="0" rIns="0" bIns="0" rtlCol="0" anchor="t"/>
          <a:lstStyle/>
          <a:p>
            <a:pPr marL="342900" indent="-342900">
              <a:lnSpc>
                <a:spcPts val="2000"/>
              </a:lnSpc>
              <a:spcAft>
                <a:spcPts val="1400"/>
              </a:spcAft>
              <a:buSzPct val="100000"/>
              <a:buChar char="✦"/>
            </a:pPr>
            <a:r>
              <a:rPr lang="en-US" sz="1350" dirty="0">
                <a:solidFill>
                  <a:srgbClr val="26272B"/>
                </a:solidFill>
                <a:latin typeface="Calibri" pitchFamily="34" charset="0"/>
                <a:ea typeface="Calibri" pitchFamily="34" charset="-122"/>
                <a:cs typeface="Calibri" pitchFamily="34" charset="-120"/>
              </a:rPr>
              <a:t>Membangun aplikasi kasir sederhana berbasis desktop menggunakan Java dan NetBeans.</a:t>
            </a:r>
            <a:endParaRPr lang="en-US" sz="1350" dirty="0"/>
          </a:p>
          <a:p>
            <a:pPr marL="342900" indent="-342900">
              <a:lnSpc>
                <a:spcPts val="2000"/>
              </a:lnSpc>
              <a:spcAft>
                <a:spcPts val="1400"/>
              </a:spcAft>
              <a:buSzPct val="100000"/>
              <a:buChar char="✦"/>
            </a:pPr>
            <a:r>
              <a:rPr lang="en-US" sz="1350" dirty="0">
                <a:solidFill>
                  <a:srgbClr val="26272B"/>
                </a:solidFill>
                <a:latin typeface="Calibri" pitchFamily="34" charset="0"/>
                <a:ea typeface="Calibri" pitchFamily="34" charset="-122"/>
                <a:cs typeface="Calibri" pitchFamily="34" charset="-120"/>
              </a:rPr>
              <a:t>Menerapkan konsep pemrograman berorientasi objek (class, object, encapsulation).</a:t>
            </a:r>
            <a:endParaRPr lang="en-US" sz="1350" dirty="0"/>
          </a:p>
          <a:p>
            <a:pPr marL="342900" indent="-342900">
              <a:lnSpc>
                <a:spcPts val="2000"/>
              </a:lnSpc>
              <a:spcAft>
                <a:spcPts val="1400"/>
              </a:spcAft>
              <a:buSzPct val="100000"/>
              <a:buChar char="✦"/>
            </a:pPr>
            <a:r>
              <a:rPr lang="en-US" sz="1350" dirty="0">
                <a:solidFill>
                  <a:srgbClr val="26272B"/>
                </a:solidFill>
                <a:latin typeface="Calibri" pitchFamily="34" charset="0"/>
                <a:ea typeface="Calibri" pitchFamily="34" charset="-122"/>
                <a:cs typeface="Calibri" pitchFamily="34" charset="-120"/>
              </a:rPr>
              <a:t>Memahami alur logika program pada proses transaksi, dari pemilihan barang hingga struk belanja.</a:t>
            </a:r>
            <a:endParaRPr lang="en-US" sz="1350" dirty="0"/>
          </a:p>
        </p:txBody>
      </p:sp>
      <p:sp>
        <p:nvSpPr>
          <p:cNvPr id="14" name="Text 1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BATASAN SISTEM</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Ruang Lingkup Aplikasi</a:t>
            </a:r>
            <a:endParaRPr lang="en-US" sz="2800" dirty="0"/>
          </a:p>
        </p:txBody>
      </p:sp>
      <p:sp>
        <p:nvSpPr>
          <p:cNvPr id="4" name="Text 2"/>
          <p:cNvSpPr/>
          <p:nvPr/>
        </p:nvSpPr>
        <p:spPr>
          <a:xfrm>
            <a:off x="548640" y="1325880"/>
            <a:ext cx="10789920" cy="365760"/>
          </a:xfrm>
          <a:prstGeom prst="rect">
            <a:avLst/>
          </a:prstGeom>
          <a:noFill/>
          <a:ln/>
        </p:spPr>
        <p:txBody>
          <a:bodyPr wrap="square" lIns="0" tIns="0" rIns="0" bIns="0" rtlCol="0" anchor="ctr"/>
          <a:lstStyle/>
          <a:p>
            <a:pPr marL="0" indent="0">
              <a:buNone/>
            </a:pPr>
            <a:r>
              <a:rPr lang="en-US" sz="1350" dirty="0">
                <a:solidFill>
                  <a:srgbClr val="5A6472"/>
                </a:solidFill>
                <a:latin typeface="Calibri" pitchFamily="34" charset="0"/>
                <a:ea typeface="Calibri" pitchFamily="34" charset="-122"/>
                <a:cs typeface="Calibri" pitchFamily="34" charset="-120"/>
              </a:rPr>
              <a:t>Aplikasi dirancang dengan batasan berikut agar pembelajaran fokus pada logika program:</a:t>
            </a:r>
            <a:endParaRPr lang="en-US" sz="1350" dirty="0"/>
          </a:p>
        </p:txBody>
      </p:sp>
      <p:sp>
        <p:nvSpPr>
          <p:cNvPr id="5" name="Shape 3"/>
          <p:cNvSpPr/>
          <p:nvPr/>
        </p:nvSpPr>
        <p:spPr>
          <a:xfrm>
            <a:off x="548640" y="1965960"/>
            <a:ext cx="2651760" cy="4023360"/>
          </a:xfrm>
          <a:prstGeom prst="roundRect">
            <a:avLst>
              <a:gd name="adj" fmla="val 3103"/>
            </a:avLst>
          </a:prstGeom>
          <a:solidFill>
            <a:srgbClr val="EEF3FD"/>
          </a:solidFill>
          <a:ln/>
          <a:effectLst>
            <a:outerShdw blurRad="101600" dist="38100" dir="2700000" algn="bl" rotWithShape="0">
              <a:srgbClr val="000000">
                <a:alpha val="12000"/>
              </a:srgbClr>
            </a:outerShdw>
          </a:effectLst>
        </p:spPr>
      </p:sp>
      <p:sp>
        <p:nvSpPr>
          <p:cNvPr id="6" name="Shape 4"/>
          <p:cNvSpPr/>
          <p:nvPr/>
        </p:nvSpPr>
        <p:spPr>
          <a:xfrm>
            <a:off x="1463040" y="2331720"/>
            <a:ext cx="822960" cy="822960"/>
          </a:xfrm>
          <a:prstGeom prst="ellipse">
            <a:avLst/>
          </a:prstGeom>
          <a:solidFill>
            <a:srgbClr val="CADCFC"/>
          </a:solidFill>
          <a:ln/>
        </p:spPr>
      </p:sp>
      <p:pic>
        <p:nvPicPr>
          <p:cNvPr id="7" name="Image 0" descr="preencoded.png"/>
          <p:cNvPicPr>
            <a:picLocks noChangeAspect="1"/>
          </p:cNvPicPr>
          <p:nvPr/>
        </p:nvPicPr>
        <p:blipFill>
          <a:blip r:embed="rId3"/>
          <a:stretch>
            <a:fillRect/>
          </a:stretch>
        </p:blipFill>
        <p:spPr>
          <a:xfrm>
            <a:off x="1677010" y="2545690"/>
            <a:ext cx="395021" cy="395021"/>
          </a:xfrm>
          <a:prstGeom prst="rect">
            <a:avLst/>
          </a:prstGeom>
        </p:spPr>
      </p:pic>
      <p:sp>
        <p:nvSpPr>
          <p:cNvPr id="8" name="Text 5"/>
          <p:cNvSpPr/>
          <p:nvPr/>
        </p:nvSpPr>
        <p:spPr>
          <a:xfrm>
            <a:off x="713232" y="3383280"/>
            <a:ext cx="2322576" cy="685800"/>
          </a:xfrm>
          <a:prstGeom prst="rect">
            <a:avLst/>
          </a:prstGeom>
          <a:noFill/>
          <a:ln/>
        </p:spPr>
        <p:txBody>
          <a:bodyPr wrap="square" lIns="0" tIns="0" rIns="0" bIns="0" rtlCol="0" anchor="ctr"/>
          <a:lstStyle/>
          <a:p>
            <a:pPr marL="0" indent="0" algn="l">
              <a:buNone/>
            </a:pPr>
            <a:r>
              <a:rPr lang="en-US" sz="1500" b="1" dirty="0">
                <a:solidFill>
                  <a:srgbClr val="141B45"/>
                </a:solidFill>
                <a:latin typeface="Cambria" pitchFamily="34" charset="0"/>
                <a:ea typeface="Cambria" pitchFamily="34" charset="-122"/>
                <a:cs typeface="Cambria" pitchFamily="34" charset="-120"/>
              </a:rPr>
              <a:t>Tanpa Database</a:t>
            </a:r>
            <a:endParaRPr lang="en-US" sz="1500" dirty="0"/>
          </a:p>
        </p:txBody>
      </p:sp>
      <p:sp>
        <p:nvSpPr>
          <p:cNvPr id="9" name="Text 6"/>
          <p:cNvSpPr/>
          <p:nvPr/>
        </p:nvSpPr>
        <p:spPr>
          <a:xfrm>
            <a:off x="713232" y="4069080"/>
            <a:ext cx="2322576" cy="1737360"/>
          </a:xfrm>
          <a:prstGeom prst="rect">
            <a:avLst/>
          </a:prstGeom>
          <a:noFill/>
          <a:ln/>
        </p:spPr>
        <p:txBody>
          <a:bodyPr wrap="square" lIns="0" tIns="0" rIns="0" bIns="0" rtlCol="0" anchor="ctr"/>
          <a:lstStyle/>
          <a:p>
            <a:pPr marL="0" indent="0" algn="l">
              <a:lnSpc>
                <a:spcPts val="1600"/>
              </a:lnSpc>
              <a:buNone/>
            </a:pPr>
            <a:r>
              <a:rPr lang="en-US" sz="1150" dirty="0">
                <a:solidFill>
                  <a:srgbClr val="26272B"/>
                </a:solidFill>
                <a:latin typeface="Calibri" pitchFamily="34" charset="0"/>
                <a:ea typeface="Calibri" pitchFamily="34" charset="-122"/>
                <a:cs typeface="Calibri" pitchFamily="34" charset="-120"/>
              </a:rPr>
              <a:t>Tidak menggunakan MySQL / SQLite ataupun sistem basis data lainnya.</a:t>
            </a:r>
            <a:endParaRPr lang="en-US" sz="1150" dirty="0"/>
          </a:p>
        </p:txBody>
      </p:sp>
      <p:sp>
        <p:nvSpPr>
          <p:cNvPr id="10" name="Shape 7"/>
          <p:cNvSpPr/>
          <p:nvPr/>
        </p:nvSpPr>
        <p:spPr>
          <a:xfrm>
            <a:off x="3429000" y="1965960"/>
            <a:ext cx="2651760" cy="4023360"/>
          </a:xfrm>
          <a:prstGeom prst="roundRect">
            <a:avLst>
              <a:gd name="adj" fmla="val 3103"/>
            </a:avLst>
          </a:prstGeom>
          <a:solidFill>
            <a:srgbClr val="EEF3FD"/>
          </a:solidFill>
          <a:ln/>
          <a:effectLst>
            <a:outerShdw blurRad="101600" dist="38100" dir="2700000" algn="bl" rotWithShape="0">
              <a:srgbClr val="000000">
                <a:alpha val="12000"/>
              </a:srgbClr>
            </a:outerShdw>
          </a:effectLst>
        </p:spPr>
      </p:sp>
      <p:sp>
        <p:nvSpPr>
          <p:cNvPr id="11" name="Shape 8"/>
          <p:cNvSpPr/>
          <p:nvPr/>
        </p:nvSpPr>
        <p:spPr>
          <a:xfrm>
            <a:off x="4343400" y="2331720"/>
            <a:ext cx="822960" cy="822960"/>
          </a:xfrm>
          <a:prstGeom prst="ellipse">
            <a:avLst/>
          </a:prstGeom>
          <a:solidFill>
            <a:srgbClr val="CADCFC"/>
          </a:solidFill>
          <a:ln/>
        </p:spPr>
      </p:sp>
      <p:pic>
        <p:nvPicPr>
          <p:cNvPr id="12" name="Image 1" descr="preencoded.png"/>
          <p:cNvPicPr>
            <a:picLocks noChangeAspect="1"/>
          </p:cNvPicPr>
          <p:nvPr/>
        </p:nvPicPr>
        <p:blipFill>
          <a:blip r:embed="rId4"/>
          <a:stretch>
            <a:fillRect/>
          </a:stretch>
        </p:blipFill>
        <p:spPr>
          <a:xfrm>
            <a:off x="4557370" y="2545690"/>
            <a:ext cx="395021" cy="395021"/>
          </a:xfrm>
          <a:prstGeom prst="rect">
            <a:avLst/>
          </a:prstGeom>
        </p:spPr>
      </p:pic>
      <p:sp>
        <p:nvSpPr>
          <p:cNvPr id="13" name="Text 9"/>
          <p:cNvSpPr/>
          <p:nvPr/>
        </p:nvSpPr>
        <p:spPr>
          <a:xfrm>
            <a:off x="3593592" y="3383280"/>
            <a:ext cx="2322576" cy="685800"/>
          </a:xfrm>
          <a:prstGeom prst="rect">
            <a:avLst/>
          </a:prstGeom>
          <a:noFill/>
          <a:ln/>
        </p:spPr>
        <p:txBody>
          <a:bodyPr wrap="square" lIns="0" tIns="0" rIns="0" bIns="0" rtlCol="0" anchor="ctr"/>
          <a:lstStyle/>
          <a:p>
            <a:pPr marL="0" indent="0" algn="l">
              <a:buNone/>
            </a:pPr>
            <a:r>
              <a:rPr lang="en-US" sz="1500" b="1" dirty="0">
                <a:solidFill>
                  <a:srgbClr val="141B45"/>
                </a:solidFill>
                <a:latin typeface="Cambria" pitchFamily="34" charset="0"/>
                <a:ea typeface="Cambria" pitchFamily="34" charset="-122"/>
                <a:cs typeface="Cambria" pitchFamily="34" charset="-120"/>
              </a:rPr>
              <a:t>Tanpa Server</a:t>
            </a:r>
            <a:endParaRPr lang="en-US" sz="1500" dirty="0"/>
          </a:p>
        </p:txBody>
      </p:sp>
      <p:sp>
        <p:nvSpPr>
          <p:cNvPr id="14" name="Text 10"/>
          <p:cNvSpPr/>
          <p:nvPr/>
        </p:nvSpPr>
        <p:spPr>
          <a:xfrm>
            <a:off x="3593592" y="4069080"/>
            <a:ext cx="2322576" cy="1737360"/>
          </a:xfrm>
          <a:prstGeom prst="rect">
            <a:avLst/>
          </a:prstGeom>
          <a:noFill/>
          <a:ln/>
        </p:spPr>
        <p:txBody>
          <a:bodyPr wrap="square" lIns="0" tIns="0" rIns="0" bIns="0" rtlCol="0" anchor="ctr"/>
          <a:lstStyle/>
          <a:p>
            <a:pPr marL="0" indent="0" algn="l">
              <a:lnSpc>
                <a:spcPts val="1600"/>
              </a:lnSpc>
              <a:buNone/>
            </a:pPr>
            <a:r>
              <a:rPr lang="en-US" sz="1150" dirty="0">
                <a:solidFill>
                  <a:srgbClr val="26272B"/>
                </a:solidFill>
                <a:latin typeface="Calibri" pitchFamily="34" charset="0"/>
                <a:ea typeface="Calibri" pitchFamily="34" charset="-122"/>
                <a:cs typeface="Calibri" pitchFamily="34" charset="-120"/>
              </a:rPr>
              <a:t>Tidak memerlukan koneksi server atau layanan backend eksternal.</a:t>
            </a:r>
            <a:endParaRPr lang="en-US" sz="1150" dirty="0"/>
          </a:p>
        </p:txBody>
      </p:sp>
      <p:sp>
        <p:nvSpPr>
          <p:cNvPr id="15" name="Shape 11"/>
          <p:cNvSpPr/>
          <p:nvPr/>
        </p:nvSpPr>
        <p:spPr>
          <a:xfrm>
            <a:off x="6309360" y="1965960"/>
            <a:ext cx="2651760" cy="4023360"/>
          </a:xfrm>
          <a:prstGeom prst="roundRect">
            <a:avLst>
              <a:gd name="adj" fmla="val 3103"/>
            </a:avLst>
          </a:prstGeom>
          <a:solidFill>
            <a:srgbClr val="EEF3FD"/>
          </a:solidFill>
          <a:ln/>
          <a:effectLst>
            <a:outerShdw blurRad="101600" dist="38100" dir="2700000" algn="bl" rotWithShape="0">
              <a:srgbClr val="000000">
                <a:alpha val="12000"/>
              </a:srgbClr>
            </a:outerShdw>
          </a:effectLst>
        </p:spPr>
      </p:sp>
      <p:sp>
        <p:nvSpPr>
          <p:cNvPr id="16" name="Shape 12"/>
          <p:cNvSpPr/>
          <p:nvPr/>
        </p:nvSpPr>
        <p:spPr>
          <a:xfrm>
            <a:off x="7223760" y="2331720"/>
            <a:ext cx="822960" cy="822960"/>
          </a:xfrm>
          <a:prstGeom prst="ellipse">
            <a:avLst/>
          </a:prstGeom>
          <a:solidFill>
            <a:srgbClr val="CADCFC"/>
          </a:solidFill>
          <a:ln/>
        </p:spPr>
      </p:sp>
      <p:pic>
        <p:nvPicPr>
          <p:cNvPr id="17" name="Image 2" descr="preencoded.png"/>
          <p:cNvPicPr>
            <a:picLocks noChangeAspect="1"/>
          </p:cNvPicPr>
          <p:nvPr/>
        </p:nvPicPr>
        <p:blipFill>
          <a:blip r:embed="rId5"/>
          <a:stretch>
            <a:fillRect/>
          </a:stretch>
        </p:blipFill>
        <p:spPr>
          <a:xfrm>
            <a:off x="7437730" y="2545690"/>
            <a:ext cx="395021" cy="395021"/>
          </a:xfrm>
          <a:prstGeom prst="rect">
            <a:avLst/>
          </a:prstGeom>
        </p:spPr>
      </p:pic>
      <p:sp>
        <p:nvSpPr>
          <p:cNvPr id="18" name="Text 13"/>
          <p:cNvSpPr/>
          <p:nvPr/>
        </p:nvSpPr>
        <p:spPr>
          <a:xfrm>
            <a:off x="6473952" y="3383280"/>
            <a:ext cx="2322576" cy="685800"/>
          </a:xfrm>
          <a:prstGeom prst="rect">
            <a:avLst/>
          </a:prstGeom>
          <a:noFill/>
          <a:ln/>
        </p:spPr>
        <p:txBody>
          <a:bodyPr wrap="square" lIns="0" tIns="0" rIns="0" bIns="0" rtlCol="0" anchor="ctr"/>
          <a:lstStyle/>
          <a:p>
            <a:pPr marL="0" indent="0" algn="l">
              <a:buNone/>
            </a:pPr>
            <a:r>
              <a:rPr lang="en-US" sz="1500" b="1" dirty="0">
                <a:solidFill>
                  <a:srgbClr val="141B45"/>
                </a:solidFill>
                <a:latin typeface="Cambria" pitchFamily="34" charset="0"/>
                <a:ea typeface="Cambria" pitchFamily="34" charset="-122"/>
                <a:cs typeface="Cambria" pitchFamily="34" charset="-120"/>
              </a:rPr>
              <a:t>Aplikasi Desktop Lokal</a:t>
            </a:r>
            <a:endParaRPr lang="en-US" sz="1500" dirty="0"/>
          </a:p>
        </p:txBody>
      </p:sp>
      <p:sp>
        <p:nvSpPr>
          <p:cNvPr id="19" name="Text 14"/>
          <p:cNvSpPr/>
          <p:nvPr/>
        </p:nvSpPr>
        <p:spPr>
          <a:xfrm>
            <a:off x="6473952" y="4069080"/>
            <a:ext cx="2322576" cy="1737360"/>
          </a:xfrm>
          <a:prstGeom prst="rect">
            <a:avLst/>
          </a:prstGeom>
          <a:noFill/>
          <a:ln/>
        </p:spPr>
        <p:txBody>
          <a:bodyPr wrap="square" lIns="0" tIns="0" rIns="0" bIns="0" rtlCol="0" anchor="ctr"/>
          <a:lstStyle/>
          <a:p>
            <a:pPr marL="0" indent="0" algn="l">
              <a:lnSpc>
                <a:spcPts val="1600"/>
              </a:lnSpc>
              <a:buNone/>
            </a:pPr>
            <a:r>
              <a:rPr lang="en-US" sz="1150" dirty="0">
                <a:solidFill>
                  <a:srgbClr val="26272B"/>
                </a:solidFill>
                <a:latin typeface="Calibri" pitchFamily="34" charset="0"/>
                <a:ea typeface="Calibri" pitchFamily="34" charset="-122"/>
                <a:cs typeface="Calibri" pitchFamily="34" charset="-120"/>
              </a:rPr>
              <a:t>Cukup dijalankan langsung di komputer (localhost), tidak perlu internet.</a:t>
            </a:r>
            <a:endParaRPr lang="en-US" sz="1150" dirty="0"/>
          </a:p>
        </p:txBody>
      </p:sp>
      <p:sp>
        <p:nvSpPr>
          <p:cNvPr id="20" name="Shape 15"/>
          <p:cNvSpPr/>
          <p:nvPr/>
        </p:nvSpPr>
        <p:spPr>
          <a:xfrm>
            <a:off x="9189720" y="1965960"/>
            <a:ext cx="2651760" cy="4023360"/>
          </a:xfrm>
          <a:prstGeom prst="roundRect">
            <a:avLst>
              <a:gd name="adj" fmla="val 3103"/>
            </a:avLst>
          </a:prstGeom>
          <a:solidFill>
            <a:srgbClr val="EEF3FD"/>
          </a:solidFill>
          <a:ln/>
          <a:effectLst>
            <a:outerShdw blurRad="101600" dist="38100" dir="2700000" algn="bl" rotWithShape="0">
              <a:srgbClr val="000000">
                <a:alpha val="12000"/>
              </a:srgbClr>
            </a:outerShdw>
          </a:effectLst>
        </p:spPr>
      </p:sp>
      <p:sp>
        <p:nvSpPr>
          <p:cNvPr id="21" name="Shape 16"/>
          <p:cNvSpPr/>
          <p:nvPr/>
        </p:nvSpPr>
        <p:spPr>
          <a:xfrm>
            <a:off x="10104120" y="2331720"/>
            <a:ext cx="822960" cy="822960"/>
          </a:xfrm>
          <a:prstGeom prst="ellipse">
            <a:avLst/>
          </a:prstGeom>
          <a:solidFill>
            <a:srgbClr val="CADCFC"/>
          </a:solidFill>
          <a:ln/>
        </p:spPr>
      </p:sp>
      <p:pic>
        <p:nvPicPr>
          <p:cNvPr id="22" name="Image 3" descr="preencoded.png"/>
          <p:cNvPicPr>
            <a:picLocks noChangeAspect="1"/>
          </p:cNvPicPr>
          <p:nvPr/>
        </p:nvPicPr>
        <p:blipFill>
          <a:blip r:embed="rId6"/>
          <a:stretch>
            <a:fillRect/>
          </a:stretch>
        </p:blipFill>
        <p:spPr>
          <a:xfrm>
            <a:off x="10318090" y="2545690"/>
            <a:ext cx="395021" cy="395021"/>
          </a:xfrm>
          <a:prstGeom prst="rect">
            <a:avLst/>
          </a:prstGeom>
        </p:spPr>
      </p:pic>
      <p:sp>
        <p:nvSpPr>
          <p:cNvPr id="23" name="Text 17"/>
          <p:cNvSpPr/>
          <p:nvPr/>
        </p:nvSpPr>
        <p:spPr>
          <a:xfrm>
            <a:off x="9354312" y="3383280"/>
            <a:ext cx="2322576" cy="685800"/>
          </a:xfrm>
          <a:prstGeom prst="rect">
            <a:avLst/>
          </a:prstGeom>
          <a:noFill/>
          <a:ln/>
        </p:spPr>
        <p:txBody>
          <a:bodyPr wrap="square" lIns="0" tIns="0" rIns="0" bIns="0" rtlCol="0" anchor="ctr"/>
          <a:lstStyle/>
          <a:p>
            <a:pPr marL="0" indent="0" algn="l">
              <a:buNone/>
            </a:pPr>
            <a:r>
              <a:rPr lang="en-US" sz="1500" b="1" dirty="0">
                <a:solidFill>
                  <a:srgbClr val="141B45"/>
                </a:solidFill>
                <a:latin typeface="Cambria" pitchFamily="34" charset="0"/>
                <a:ea typeface="Cambria" pitchFamily="34" charset="-122"/>
                <a:cs typeface="Cambria" pitchFamily="34" charset="-120"/>
              </a:rPr>
              <a:t>Data Tersimpan di Memori</a:t>
            </a:r>
            <a:endParaRPr lang="en-US" sz="1500" dirty="0"/>
          </a:p>
        </p:txBody>
      </p:sp>
      <p:sp>
        <p:nvSpPr>
          <p:cNvPr id="24" name="Text 18"/>
          <p:cNvSpPr/>
          <p:nvPr/>
        </p:nvSpPr>
        <p:spPr>
          <a:xfrm>
            <a:off x="9354312" y="4069080"/>
            <a:ext cx="2322576" cy="1737360"/>
          </a:xfrm>
          <a:prstGeom prst="rect">
            <a:avLst/>
          </a:prstGeom>
          <a:noFill/>
          <a:ln/>
        </p:spPr>
        <p:txBody>
          <a:bodyPr wrap="square" lIns="0" tIns="0" rIns="0" bIns="0" rtlCol="0" anchor="ctr"/>
          <a:lstStyle/>
          <a:p>
            <a:pPr marL="0" indent="0" algn="l">
              <a:lnSpc>
                <a:spcPts val="1600"/>
              </a:lnSpc>
              <a:buNone/>
            </a:pPr>
            <a:r>
              <a:rPr lang="en-US" sz="1150" dirty="0">
                <a:solidFill>
                  <a:srgbClr val="26272B"/>
                </a:solidFill>
                <a:latin typeface="Calibri" pitchFamily="34" charset="0"/>
                <a:ea typeface="Calibri" pitchFamily="34" charset="-122"/>
                <a:cs typeface="Calibri" pitchFamily="34" charset="-120"/>
              </a:rPr>
              <a:t>Data produk &amp; transaksi memakai struktur ArrayList selama program berjalan.</a:t>
            </a:r>
            <a:endParaRPr lang="en-US" sz="1150" dirty="0"/>
          </a:p>
        </p:txBody>
      </p:sp>
      <p:sp>
        <p:nvSpPr>
          <p:cNvPr id="25" name="Text 1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CADCFC"/>
                </a:solidFill>
                <a:latin typeface="Calibri" pitchFamily="34" charset="0"/>
                <a:ea typeface="Calibri" pitchFamily="34" charset="-122"/>
                <a:cs typeface="Calibri" pitchFamily="34" charset="-120"/>
              </a:rPr>
              <a:t>STACK PEMROGRAMAN</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Teknologi yang Digunakan</a:t>
            </a:r>
            <a:endParaRPr lang="en-US" sz="2800" dirty="0"/>
          </a:p>
        </p:txBody>
      </p:sp>
      <p:sp>
        <p:nvSpPr>
          <p:cNvPr id="4" name="Shape 2"/>
          <p:cNvSpPr/>
          <p:nvPr/>
        </p:nvSpPr>
        <p:spPr>
          <a:xfrm>
            <a:off x="548640" y="1874520"/>
            <a:ext cx="3520440" cy="4206240"/>
          </a:xfrm>
          <a:prstGeom prst="roundRect">
            <a:avLst>
              <a:gd name="adj" fmla="val 2597"/>
            </a:avLst>
          </a:prstGeom>
          <a:solidFill>
            <a:srgbClr val="141B45"/>
          </a:solidFill>
          <a:ln/>
        </p:spPr>
      </p:sp>
      <p:sp>
        <p:nvSpPr>
          <p:cNvPr id="5" name="Shape 3"/>
          <p:cNvSpPr/>
          <p:nvPr/>
        </p:nvSpPr>
        <p:spPr>
          <a:xfrm>
            <a:off x="1851660" y="2286000"/>
            <a:ext cx="914400" cy="914400"/>
          </a:xfrm>
          <a:prstGeom prst="ellipse">
            <a:avLst/>
          </a:prstGeom>
          <a:solidFill>
            <a:srgbClr val="CADCFC"/>
          </a:solidFill>
          <a:ln/>
        </p:spPr>
      </p:sp>
      <p:pic>
        <p:nvPicPr>
          <p:cNvPr id="6" name="Image 0" descr="preencoded.png"/>
          <p:cNvPicPr>
            <a:picLocks noChangeAspect="1"/>
          </p:cNvPicPr>
          <p:nvPr/>
        </p:nvPicPr>
        <p:blipFill>
          <a:blip r:embed="rId3"/>
          <a:stretch>
            <a:fillRect/>
          </a:stretch>
        </p:blipFill>
        <p:spPr>
          <a:xfrm>
            <a:off x="2089404" y="2523744"/>
            <a:ext cx="438912" cy="438912"/>
          </a:xfrm>
          <a:prstGeom prst="rect">
            <a:avLst/>
          </a:prstGeom>
        </p:spPr>
      </p:pic>
      <p:sp>
        <p:nvSpPr>
          <p:cNvPr id="7" name="Text 4"/>
          <p:cNvSpPr/>
          <p:nvPr/>
        </p:nvSpPr>
        <p:spPr>
          <a:xfrm>
            <a:off x="777240" y="3474720"/>
            <a:ext cx="30632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Java</a:t>
            </a:r>
            <a:endParaRPr lang="en-US" sz="1800" dirty="0"/>
          </a:p>
        </p:txBody>
      </p:sp>
      <p:sp>
        <p:nvSpPr>
          <p:cNvPr id="8" name="Text 5"/>
          <p:cNvSpPr/>
          <p:nvPr/>
        </p:nvSpPr>
        <p:spPr>
          <a:xfrm>
            <a:off x="868680" y="4023360"/>
            <a:ext cx="2880360" cy="1874520"/>
          </a:xfrm>
          <a:prstGeom prst="rect">
            <a:avLst/>
          </a:prstGeom>
          <a:noFill/>
          <a:ln/>
        </p:spPr>
        <p:txBody>
          <a:bodyPr wrap="square" lIns="0" tIns="0" rIns="0" bIns="0" rtlCol="0" anchor="ctr"/>
          <a:lstStyle/>
          <a:p>
            <a:pPr marL="0" indent="0" algn="ctr">
              <a:lnSpc>
                <a:spcPts val="1800"/>
              </a:lnSpc>
              <a:buNone/>
            </a:pPr>
            <a:r>
              <a:rPr lang="en-US" sz="1250" dirty="0">
                <a:solidFill>
                  <a:srgbClr val="D8E2F7"/>
                </a:solidFill>
                <a:latin typeface="Calibri" pitchFamily="34" charset="0"/>
                <a:ea typeface="Calibri" pitchFamily="34" charset="-122"/>
                <a:cs typeface="Calibri" pitchFamily="34" charset="-120"/>
              </a:rPr>
              <a:t>Bahasa pemrograman utama, berorientasi objek dan portabel di berbagai sistem operasi.</a:t>
            </a:r>
            <a:endParaRPr lang="en-US" sz="1250" dirty="0"/>
          </a:p>
        </p:txBody>
      </p:sp>
      <p:sp>
        <p:nvSpPr>
          <p:cNvPr id="9" name="Shape 6"/>
          <p:cNvSpPr/>
          <p:nvPr/>
        </p:nvSpPr>
        <p:spPr>
          <a:xfrm>
            <a:off x="4389120" y="1874520"/>
            <a:ext cx="3520440" cy="4206240"/>
          </a:xfrm>
          <a:prstGeom prst="roundRect">
            <a:avLst>
              <a:gd name="adj" fmla="val 2597"/>
            </a:avLst>
          </a:prstGeom>
          <a:solidFill>
            <a:srgbClr val="141B45"/>
          </a:solidFill>
          <a:ln/>
        </p:spPr>
      </p:sp>
      <p:sp>
        <p:nvSpPr>
          <p:cNvPr id="10" name="Shape 7"/>
          <p:cNvSpPr/>
          <p:nvPr/>
        </p:nvSpPr>
        <p:spPr>
          <a:xfrm>
            <a:off x="5692140" y="2286000"/>
            <a:ext cx="914400" cy="914400"/>
          </a:xfrm>
          <a:prstGeom prst="ellipse">
            <a:avLst/>
          </a:prstGeom>
          <a:solidFill>
            <a:srgbClr val="CADCFC"/>
          </a:solidFill>
          <a:ln/>
        </p:spPr>
      </p:sp>
      <p:pic>
        <p:nvPicPr>
          <p:cNvPr id="11" name="Image 1" descr="preencoded.png"/>
          <p:cNvPicPr>
            <a:picLocks noChangeAspect="1"/>
          </p:cNvPicPr>
          <p:nvPr/>
        </p:nvPicPr>
        <p:blipFill>
          <a:blip r:embed="rId4"/>
          <a:stretch>
            <a:fillRect/>
          </a:stretch>
        </p:blipFill>
        <p:spPr>
          <a:xfrm>
            <a:off x="5929884" y="2523744"/>
            <a:ext cx="438912" cy="438912"/>
          </a:xfrm>
          <a:prstGeom prst="rect">
            <a:avLst/>
          </a:prstGeom>
        </p:spPr>
      </p:pic>
      <p:sp>
        <p:nvSpPr>
          <p:cNvPr id="12" name="Text 8"/>
          <p:cNvSpPr/>
          <p:nvPr/>
        </p:nvSpPr>
        <p:spPr>
          <a:xfrm>
            <a:off x="4617720" y="3474720"/>
            <a:ext cx="30632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Java Swing</a:t>
            </a:r>
            <a:endParaRPr lang="en-US" sz="1800" dirty="0"/>
          </a:p>
        </p:txBody>
      </p:sp>
      <p:sp>
        <p:nvSpPr>
          <p:cNvPr id="13" name="Text 9"/>
          <p:cNvSpPr/>
          <p:nvPr/>
        </p:nvSpPr>
        <p:spPr>
          <a:xfrm>
            <a:off x="4709160" y="4023360"/>
            <a:ext cx="2880360" cy="1874520"/>
          </a:xfrm>
          <a:prstGeom prst="rect">
            <a:avLst/>
          </a:prstGeom>
          <a:noFill/>
          <a:ln/>
        </p:spPr>
        <p:txBody>
          <a:bodyPr wrap="square" lIns="0" tIns="0" rIns="0" bIns="0" rtlCol="0" anchor="ctr"/>
          <a:lstStyle/>
          <a:p>
            <a:pPr marL="0" indent="0" algn="ctr">
              <a:lnSpc>
                <a:spcPts val="1800"/>
              </a:lnSpc>
              <a:buNone/>
            </a:pPr>
            <a:r>
              <a:rPr lang="en-US" sz="1250" dirty="0">
                <a:solidFill>
                  <a:srgbClr val="D8E2F7"/>
                </a:solidFill>
                <a:latin typeface="Calibri" pitchFamily="34" charset="0"/>
                <a:ea typeface="Calibri" pitchFamily="34" charset="-122"/>
                <a:cs typeface="Calibri" pitchFamily="34" charset="-120"/>
              </a:rPr>
              <a:t>Pustaka GUI bawaan JDK untuk membangun tampilan desktop: JFrame, JTable, JButton, dsb.</a:t>
            </a:r>
            <a:endParaRPr lang="en-US" sz="1250" dirty="0"/>
          </a:p>
        </p:txBody>
      </p:sp>
      <p:sp>
        <p:nvSpPr>
          <p:cNvPr id="14" name="Shape 10"/>
          <p:cNvSpPr/>
          <p:nvPr/>
        </p:nvSpPr>
        <p:spPr>
          <a:xfrm>
            <a:off x="8229600" y="1874520"/>
            <a:ext cx="3520440" cy="4206240"/>
          </a:xfrm>
          <a:prstGeom prst="roundRect">
            <a:avLst>
              <a:gd name="adj" fmla="val 2597"/>
            </a:avLst>
          </a:prstGeom>
          <a:solidFill>
            <a:srgbClr val="141B45"/>
          </a:solidFill>
          <a:ln/>
        </p:spPr>
      </p:sp>
      <p:sp>
        <p:nvSpPr>
          <p:cNvPr id="15" name="Shape 11"/>
          <p:cNvSpPr/>
          <p:nvPr/>
        </p:nvSpPr>
        <p:spPr>
          <a:xfrm>
            <a:off x="9532620" y="2286000"/>
            <a:ext cx="914400" cy="914400"/>
          </a:xfrm>
          <a:prstGeom prst="ellipse">
            <a:avLst/>
          </a:prstGeom>
          <a:solidFill>
            <a:srgbClr val="CADCFC"/>
          </a:solidFill>
          <a:ln/>
        </p:spPr>
      </p:sp>
      <p:pic>
        <p:nvPicPr>
          <p:cNvPr id="16" name="Image 2" descr="preencoded.png"/>
          <p:cNvPicPr>
            <a:picLocks noChangeAspect="1"/>
          </p:cNvPicPr>
          <p:nvPr/>
        </p:nvPicPr>
        <p:blipFill>
          <a:blip r:embed="rId5"/>
          <a:stretch>
            <a:fillRect/>
          </a:stretch>
        </p:blipFill>
        <p:spPr>
          <a:xfrm>
            <a:off x="9770364" y="2523744"/>
            <a:ext cx="438912" cy="438912"/>
          </a:xfrm>
          <a:prstGeom prst="rect">
            <a:avLst/>
          </a:prstGeom>
        </p:spPr>
      </p:pic>
      <p:sp>
        <p:nvSpPr>
          <p:cNvPr id="17" name="Text 12"/>
          <p:cNvSpPr/>
          <p:nvPr/>
        </p:nvSpPr>
        <p:spPr>
          <a:xfrm>
            <a:off x="8458200" y="3474720"/>
            <a:ext cx="30632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Apache NetBeans</a:t>
            </a:r>
            <a:endParaRPr lang="en-US" sz="1800" dirty="0"/>
          </a:p>
        </p:txBody>
      </p:sp>
      <p:sp>
        <p:nvSpPr>
          <p:cNvPr id="18" name="Text 13"/>
          <p:cNvSpPr/>
          <p:nvPr/>
        </p:nvSpPr>
        <p:spPr>
          <a:xfrm>
            <a:off x="8549640" y="4023360"/>
            <a:ext cx="2880360" cy="1874520"/>
          </a:xfrm>
          <a:prstGeom prst="rect">
            <a:avLst/>
          </a:prstGeom>
          <a:noFill/>
          <a:ln/>
        </p:spPr>
        <p:txBody>
          <a:bodyPr wrap="square" lIns="0" tIns="0" rIns="0" bIns="0" rtlCol="0" anchor="ctr"/>
          <a:lstStyle/>
          <a:p>
            <a:pPr marL="0" indent="0" algn="ctr">
              <a:lnSpc>
                <a:spcPts val="1800"/>
              </a:lnSpc>
              <a:buNone/>
            </a:pPr>
            <a:r>
              <a:rPr lang="en-US" sz="1250" dirty="0">
                <a:solidFill>
                  <a:srgbClr val="D8E2F7"/>
                </a:solidFill>
                <a:latin typeface="Calibri" pitchFamily="34" charset="0"/>
                <a:ea typeface="Calibri" pitchFamily="34" charset="-122"/>
                <a:cs typeface="Calibri" pitchFamily="34" charset="-120"/>
              </a:rPr>
              <a:t>IDE yang digunakan untuk menulis, menjalankan, dan menguji program Java secara terintegrasi.</a:t>
            </a:r>
            <a:endParaRPr lang="en-US" sz="1250" dirty="0"/>
          </a:p>
        </p:txBody>
      </p:sp>
      <p:sp>
        <p:nvSpPr>
          <p:cNvPr id="19" name="Text 14"/>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PERANCANGAN</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Struktur Program (Rancangan Kelas)</a:t>
            </a:r>
            <a:endParaRPr lang="en-US" sz="2800" dirty="0"/>
          </a:p>
        </p:txBody>
      </p:sp>
      <p:sp>
        <p:nvSpPr>
          <p:cNvPr id="4" name="Shape 2"/>
          <p:cNvSpPr/>
          <p:nvPr/>
        </p:nvSpPr>
        <p:spPr>
          <a:xfrm>
            <a:off x="548640" y="1463040"/>
            <a:ext cx="11091672" cy="2148840"/>
          </a:xfrm>
          <a:prstGeom prst="roundRect">
            <a:avLst>
              <a:gd name="adj" fmla="val 3830"/>
            </a:avLst>
          </a:prstGeom>
          <a:solidFill>
            <a:srgbClr val="EEF3FD"/>
          </a:solidFill>
          <a:ln/>
          <a:effectLst>
            <a:outerShdw blurRad="101600" dist="38100" dir="2700000" algn="bl" rotWithShape="0">
              <a:srgbClr val="000000">
                <a:alpha val="12000"/>
              </a:srgbClr>
            </a:outerShdw>
          </a:effectLst>
        </p:spPr>
      </p:sp>
      <p:pic>
        <p:nvPicPr>
          <p:cNvPr id="5" name="Image 0" descr="/home/claude/assets/struktur.png"/>
          <p:cNvPicPr>
            <a:picLocks noChangeAspect="1"/>
          </p:cNvPicPr>
          <p:nvPr/>
        </p:nvPicPr>
        <p:blipFill>
          <a:blip r:embed="rId3"/>
          <a:stretch>
            <a:fillRect/>
          </a:stretch>
        </p:blipFill>
        <p:spPr>
          <a:xfrm>
            <a:off x="1005840" y="1901952"/>
            <a:ext cx="10149840" cy="1247701"/>
          </a:xfrm>
          <a:prstGeom prst="rect">
            <a:avLst/>
          </a:prstGeom>
        </p:spPr>
      </p:pic>
      <p:sp>
        <p:nvSpPr>
          <p:cNvPr id="6" name="Shape 3"/>
          <p:cNvSpPr/>
          <p:nvPr/>
        </p:nvSpPr>
        <p:spPr>
          <a:xfrm>
            <a:off x="548640" y="4069080"/>
            <a:ext cx="2651760" cy="1600200"/>
          </a:xfrm>
          <a:prstGeom prst="roundRect">
            <a:avLst>
              <a:gd name="adj" fmla="val 4571"/>
            </a:avLst>
          </a:prstGeom>
          <a:solidFill>
            <a:srgbClr val="1E2761"/>
          </a:solidFill>
          <a:ln/>
        </p:spPr>
      </p:sp>
      <p:sp>
        <p:nvSpPr>
          <p:cNvPr id="7" name="Text 4"/>
          <p:cNvSpPr/>
          <p:nvPr/>
        </p:nvSpPr>
        <p:spPr>
          <a:xfrm>
            <a:off x="685800" y="4178808"/>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Main.java</a:t>
            </a:r>
            <a:endParaRPr lang="en-US" sz="1300" dirty="0"/>
          </a:p>
        </p:txBody>
      </p:sp>
      <p:sp>
        <p:nvSpPr>
          <p:cNvPr id="8" name="Text 5"/>
          <p:cNvSpPr/>
          <p:nvPr/>
        </p:nvSpPr>
        <p:spPr>
          <a:xfrm>
            <a:off x="685800" y="4572000"/>
            <a:ext cx="2377440" cy="1005840"/>
          </a:xfrm>
          <a:prstGeom prst="rect">
            <a:avLst/>
          </a:prstGeom>
          <a:noFill/>
          <a:ln/>
        </p:spPr>
        <p:txBody>
          <a:bodyPr wrap="square" lIns="0" tIns="0" rIns="0" bIns="0" rtlCol="0" anchor="ctr"/>
          <a:lstStyle/>
          <a:p>
            <a:pPr marL="0" indent="0">
              <a:lnSpc>
                <a:spcPts val="1400"/>
              </a:lnSpc>
              <a:buNone/>
            </a:pPr>
            <a:r>
              <a:rPr lang="en-US" sz="1080" dirty="0">
                <a:solidFill>
                  <a:srgbClr val="CADCFC"/>
                </a:solidFill>
                <a:latin typeface="Calibri" pitchFamily="34" charset="0"/>
                <a:ea typeface="Calibri" pitchFamily="34" charset="-122"/>
                <a:cs typeface="Calibri" pitchFamily="34" charset="-120"/>
              </a:rPr>
              <a:t>Titik awal (entry point) yang menjalankan jendela aplikasi.</a:t>
            </a:r>
            <a:endParaRPr lang="en-US" sz="1080" dirty="0"/>
          </a:p>
        </p:txBody>
      </p:sp>
      <p:sp>
        <p:nvSpPr>
          <p:cNvPr id="9" name="Shape 6"/>
          <p:cNvSpPr/>
          <p:nvPr/>
        </p:nvSpPr>
        <p:spPr>
          <a:xfrm>
            <a:off x="3419856" y="4069080"/>
            <a:ext cx="2651760" cy="1600200"/>
          </a:xfrm>
          <a:prstGeom prst="roundRect">
            <a:avLst>
              <a:gd name="adj" fmla="val 4571"/>
            </a:avLst>
          </a:prstGeom>
          <a:solidFill>
            <a:srgbClr val="1E2761"/>
          </a:solidFill>
          <a:ln/>
        </p:spPr>
      </p:sp>
      <p:sp>
        <p:nvSpPr>
          <p:cNvPr id="10" name="Text 7"/>
          <p:cNvSpPr/>
          <p:nvPr/>
        </p:nvSpPr>
        <p:spPr>
          <a:xfrm>
            <a:off x="3557016" y="4178808"/>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KasirFrame.java</a:t>
            </a:r>
            <a:endParaRPr lang="en-US" sz="1300" dirty="0"/>
          </a:p>
        </p:txBody>
      </p:sp>
      <p:sp>
        <p:nvSpPr>
          <p:cNvPr id="11" name="Text 8"/>
          <p:cNvSpPr/>
          <p:nvPr/>
        </p:nvSpPr>
        <p:spPr>
          <a:xfrm>
            <a:off x="3557016" y="4572000"/>
            <a:ext cx="2377440" cy="1005840"/>
          </a:xfrm>
          <a:prstGeom prst="rect">
            <a:avLst/>
          </a:prstGeom>
          <a:noFill/>
          <a:ln/>
        </p:spPr>
        <p:txBody>
          <a:bodyPr wrap="square" lIns="0" tIns="0" rIns="0" bIns="0" rtlCol="0" anchor="ctr"/>
          <a:lstStyle/>
          <a:p>
            <a:pPr marL="0" indent="0">
              <a:lnSpc>
                <a:spcPts val="1400"/>
              </a:lnSpc>
              <a:buNone/>
            </a:pPr>
            <a:r>
              <a:rPr lang="en-US" sz="1080" dirty="0">
                <a:solidFill>
                  <a:srgbClr val="CADCFC"/>
                </a:solidFill>
                <a:latin typeface="Calibri" pitchFamily="34" charset="0"/>
                <a:ea typeface="Calibri" pitchFamily="34" charset="-122"/>
                <a:cs typeface="Calibri" pitchFamily="34" charset="-120"/>
              </a:rPr>
              <a:t>Kelas utama: tampilan (GUI) sekaligus seluruh logika proses kasir.</a:t>
            </a:r>
            <a:endParaRPr lang="en-US" sz="1080" dirty="0"/>
          </a:p>
        </p:txBody>
      </p:sp>
      <p:sp>
        <p:nvSpPr>
          <p:cNvPr id="12" name="Shape 9"/>
          <p:cNvSpPr/>
          <p:nvPr/>
        </p:nvSpPr>
        <p:spPr>
          <a:xfrm>
            <a:off x="6291072" y="4069080"/>
            <a:ext cx="2651760" cy="1600200"/>
          </a:xfrm>
          <a:prstGeom prst="roundRect">
            <a:avLst>
              <a:gd name="adj" fmla="val 4571"/>
            </a:avLst>
          </a:prstGeom>
          <a:solidFill>
            <a:srgbClr val="1E2761"/>
          </a:solidFill>
          <a:ln/>
        </p:spPr>
      </p:sp>
      <p:sp>
        <p:nvSpPr>
          <p:cNvPr id="13" name="Text 10"/>
          <p:cNvSpPr/>
          <p:nvPr/>
        </p:nvSpPr>
        <p:spPr>
          <a:xfrm>
            <a:off x="6428232" y="4178808"/>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Product.java</a:t>
            </a:r>
            <a:endParaRPr lang="en-US" sz="1300" dirty="0"/>
          </a:p>
        </p:txBody>
      </p:sp>
      <p:sp>
        <p:nvSpPr>
          <p:cNvPr id="14" name="Text 11"/>
          <p:cNvSpPr/>
          <p:nvPr/>
        </p:nvSpPr>
        <p:spPr>
          <a:xfrm>
            <a:off x="6428232" y="4572000"/>
            <a:ext cx="2377440" cy="1005840"/>
          </a:xfrm>
          <a:prstGeom prst="rect">
            <a:avLst/>
          </a:prstGeom>
          <a:noFill/>
          <a:ln/>
        </p:spPr>
        <p:txBody>
          <a:bodyPr wrap="square" lIns="0" tIns="0" rIns="0" bIns="0" rtlCol="0" anchor="ctr"/>
          <a:lstStyle/>
          <a:p>
            <a:pPr marL="0" indent="0">
              <a:lnSpc>
                <a:spcPts val="1400"/>
              </a:lnSpc>
              <a:buNone/>
            </a:pPr>
            <a:r>
              <a:rPr lang="en-US" sz="1080" dirty="0">
                <a:solidFill>
                  <a:srgbClr val="CADCFC"/>
                </a:solidFill>
                <a:latin typeface="Calibri" pitchFamily="34" charset="0"/>
                <a:ea typeface="Calibri" pitchFamily="34" charset="-122"/>
                <a:cs typeface="Calibri" pitchFamily="34" charset="-120"/>
              </a:rPr>
              <a:t>Model data barang: kode, nama, harga, dan stok.</a:t>
            </a:r>
            <a:endParaRPr lang="en-US" sz="1080" dirty="0"/>
          </a:p>
        </p:txBody>
      </p:sp>
      <p:sp>
        <p:nvSpPr>
          <p:cNvPr id="15" name="Shape 12"/>
          <p:cNvSpPr/>
          <p:nvPr/>
        </p:nvSpPr>
        <p:spPr>
          <a:xfrm>
            <a:off x="9162288" y="4069080"/>
            <a:ext cx="2651760" cy="1600200"/>
          </a:xfrm>
          <a:prstGeom prst="roundRect">
            <a:avLst>
              <a:gd name="adj" fmla="val 4571"/>
            </a:avLst>
          </a:prstGeom>
          <a:solidFill>
            <a:srgbClr val="1E2761"/>
          </a:solidFill>
          <a:ln/>
        </p:spPr>
      </p:sp>
      <p:sp>
        <p:nvSpPr>
          <p:cNvPr id="16" name="Text 13"/>
          <p:cNvSpPr/>
          <p:nvPr/>
        </p:nvSpPr>
        <p:spPr>
          <a:xfrm>
            <a:off x="9299448" y="4178808"/>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CartItem.java</a:t>
            </a:r>
            <a:endParaRPr lang="en-US" sz="1300" dirty="0"/>
          </a:p>
        </p:txBody>
      </p:sp>
      <p:sp>
        <p:nvSpPr>
          <p:cNvPr id="17" name="Text 14"/>
          <p:cNvSpPr/>
          <p:nvPr/>
        </p:nvSpPr>
        <p:spPr>
          <a:xfrm>
            <a:off x="9299448" y="4572000"/>
            <a:ext cx="2377440" cy="1005840"/>
          </a:xfrm>
          <a:prstGeom prst="rect">
            <a:avLst/>
          </a:prstGeom>
          <a:noFill/>
          <a:ln/>
        </p:spPr>
        <p:txBody>
          <a:bodyPr wrap="square" lIns="0" tIns="0" rIns="0" bIns="0" rtlCol="0" anchor="ctr"/>
          <a:lstStyle/>
          <a:p>
            <a:pPr marL="0" indent="0">
              <a:lnSpc>
                <a:spcPts val="1400"/>
              </a:lnSpc>
              <a:buNone/>
            </a:pPr>
            <a:r>
              <a:rPr lang="en-US" sz="1080" dirty="0">
                <a:solidFill>
                  <a:srgbClr val="CADCFC"/>
                </a:solidFill>
                <a:latin typeface="Calibri" pitchFamily="34" charset="0"/>
                <a:ea typeface="Calibri" pitchFamily="34" charset="-122"/>
                <a:cs typeface="Calibri" pitchFamily="34" charset="-120"/>
              </a:rPr>
              <a:t>Model item keranjang: merujuk 1 Product beserta jumlah (qty).</a:t>
            </a:r>
            <a:endParaRPr lang="en-US" sz="1080" dirty="0"/>
          </a:p>
        </p:txBody>
      </p:sp>
      <p:sp>
        <p:nvSpPr>
          <p:cNvPr id="18" name="Text 1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ALUR PROGRAM</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Alur Logika Program (Flowchart)</a:t>
            </a:r>
            <a:endParaRPr lang="en-US" sz="2800" dirty="0"/>
          </a:p>
        </p:txBody>
      </p:sp>
      <p:pic>
        <p:nvPicPr>
          <p:cNvPr id="4" name="Image 0" descr="/home/claude/assets/flowchart_final.png"/>
          <p:cNvPicPr>
            <a:picLocks noChangeAspect="1"/>
          </p:cNvPicPr>
          <p:nvPr/>
        </p:nvPicPr>
        <p:blipFill>
          <a:blip r:embed="rId3"/>
          <a:stretch>
            <a:fillRect/>
          </a:stretch>
        </p:blipFill>
        <p:spPr>
          <a:xfrm>
            <a:off x="777240" y="1417320"/>
            <a:ext cx="4846320" cy="4846320"/>
          </a:xfrm>
          <a:prstGeom prst="rect">
            <a:avLst/>
          </a:prstGeom>
        </p:spPr>
      </p:pic>
      <p:sp>
        <p:nvSpPr>
          <p:cNvPr id="5" name="Shape 2"/>
          <p:cNvSpPr/>
          <p:nvPr/>
        </p:nvSpPr>
        <p:spPr>
          <a:xfrm>
            <a:off x="6035040" y="1417320"/>
            <a:ext cx="658368" cy="658368"/>
          </a:xfrm>
          <a:prstGeom prst="ellipse">
            <a:avLst/>
          </a:prstGeom>
          <a:solidFill>
            <a:srgbClr val="CADCFC"/>
          </a:solidFill>
          <a:ln/>
        </p:spPr>
      </p:sp>
      <p:pic>
        <p:nvPicPr>
          <p:cNvPr id="6" name="Image 1" descr="preencoded.png"/>
          <p:cNvPicPr>
            <a:picLocks noChangeAspect="1"/>
          </p:cNvPicPr>
          <p:nvPr/>
        </p:nvPicPr>
        <p:blipFill>
          <a:blip r:embed="rId4"/>
          <a:stretch>
            <a:fillRect/>
          </a:stretch>
        </p:blipFill>
        <p:spPr>
          <a:xfrm>
            <a:off x="6206216" y="1588496"/>
            <a:ext cx="316017" cy="316017"/>
          </a:xfrm>
          <a:prstGeom prst="rect">
            <a:avLst/>
          </a:prstGeom>
        </p:spPr>
      </p:pic>
      <p:sp>
        <p:nvSpPr>
          <p:cNvPr id="7" name="Text 3"/>
          <p:cNvSpPr/>
          <p:nvPr/>
        </p:nvSpPr>
        <p:spPr>
          <a:xfrm>
            <a:off x="6903720" y="1399032"/>
            <a:ext cx="4709160" cy="365760"/>
          </a:xfrm>
          <a:prstGeom prst="rect">
            <a:avLst/>
          </a:prstGeom>
          <a:noFill/>
          <a:ln/>
        </p:spPr>
        <p:txBody>
          <a:bodyPr wrap="square" lIns="0" tIns="0" rIns="0" bIns="0" rtlCol="0" anchor="ctr"/>
          <a:lstStyle/>
          <a:p>
            <a:pPr marL="0" indent="0">
              <a:buNone/>
            </a:pPr>
            <a:r>
              <a:rPr lang="en-US" sz="1450" b="1" dirty="0">
                <a:solidFill>
                  <a:srgbClr val="141B45"/>
                </a:solidFill>
                <a:latin typeface="Cambria" pitchFamily="34" charset="0"/>
                <a:ea typeface="Cambria" pitchFamily="34" charset="-122"/>
                <a:cs typeface="Cambria" pitchFamily="34" charset="-120"/>
              </a:rPr>
              <a:t>Cek Ketersediaan Stok</a:t>
            </a:r>
            <a:endParaRPr lang="en-US" sz="1450" dirty="0"/>
          </a:p>
        </p:txBody>
      </p:sp>
      <p:sp>
        <p:nvSpPr>
          <p:cNvPr id="8" name="Text 4"/>
          <p:cNvSpPr/>
          <p:nvPr/>
        </p:nvSpPr>
        <p:spPr>
          <a:xfrm>
            <a:off x="6903720" y="1764792"/>
            <a:ext cx="4709160" cy="685800"/>
          </a:xfrm>
          <a:prstGeom prst="rect">
            <a:avLst/>
          </a:prstGeom>
          <a:noFill/>
          <a:ln/>
        </p:spPr>
        <p:txBody>
          <a:bodyPr wrap="square" lIns="0" tIns="0" rIns="0" bIns="0" rtlCol="0" anchor="ctr"/>
          <a:lstStyle/>
          <a:p>
            <a:pPr marL="0" indent="0">
              <a:lnSpc>
                <a:spcPts val="1500"/>
              </a:lnSpc>
              <a:buNone/>
            </a:pPr>
            <a:r>
              <a:rPr lang="en-US" sz="1150" dirty="0">
                <a:solidFill>
                  <a:srgbClr val="26272B"/>
                </a:solidFill>
                <a:latin typeface="Calibri" pitchFamily="34" charset="0"/>
                <a:ea typeface="Calibri" pitchFamily="34" charset="-122"/>
                <a:cs typeface="Calibri" pitchFamily="34" charset="-120"/>
              </a:rPr>
              <a:t>Sebelum masuk keranjang, sistem memastikan jumlah yang diminta tidak melebihi stok.</a:t>
            </a:r>
            <a:endParaRPr lang="en-US" sz="1150" dirty="0"/>
          </a:p>
        </p:txBody>
      </p:sp>
      <p:sp>
        <p:nvSpPr>
          <p:cNvPr id="9" name="Shape 5"/>
          <p:cNvSpPr/>
          <p:nvPr/>
        </p:nvSpPr>
        <p:spPr>
          <a:xfrm>
            <a:off x="6035040" y="2606040"/>
            <a:ext cx="658368" cy="658368"/>
          </a:xfrm>
          <a:prstGeom prst="ellipse">
            <a:avLst/>
          </a:prstGeom>
          <a:solidFill>
            <a:srgbClr val="CADCFC"/>
          </a:solidFill>
          <a:ln/>
        </p:spPr>
      </p:sp>
      <p:pic>
        <p:nvPicPr>
          <p:cNvPr id="10" name="Image 2" descr="preencoded.png"/>
          <p:cNvPicPr>
            <a:picLocks noChangeAspect="1"/>
          </p:cNvPicPr>
          <p:nvPr/>
        </p:nvPicPr>
        <p:blipFill>
          <a:blip r:embed="rId5"/>
          <a:stretch>
            <a:fillRect/>
          </a:stretch>
        </p:blipFill>
        <p:spPr>
          <a:xfrm>
            <a:off x="6206216" y="2777216"/>
            <a:ext cx="316017" cy="316017"/>
          </a:xfrm>
          <a:prstGeom prst="rect">
            <a:avLst/>
          </a:prstGeom>
        </p:spPr>
      </p:pic>
      <p:sp>
        <p:nvSpPr>
          <p:cNvPr id="11" name="Text 6"/>
          <p:cNvSpPr/>
          <p:nvPr/>
        </p:nvSpPr>
        <p:spPr>
          <a:xfrm>
            <a:off x="6903720" y="2587752"/>
            <a:ext cx="4709160" cy="365760"/>
          </a:xfrm>
          <a:prstGeom prst="rect">
            <a:avLst/>
          </a:prstGeom>
          <a:noFill/>
          <a:ln/>
        </p:spPr>
        <p:txBody>
          <a:bodyPr wrap="square" lIns="0" tIns="0" rIns="0" bIns="0" rtlCol="0" anchor="ctr"/>
          <a:lstStyle/>
          <a:p>
            <a:pPr marL="0" indent="0">
              <a:buNone/>
            </a:pPr>
            <a:r>
              <a:rPr lang="en-US" sz="1450" b="1" dirty="0">
                <a:solidFill>
                  <a:srgbClr val="141B45"/>
                </a:solidFill>
                <a:latin typeface="Cambria" pitchFamily="34" charset="0"/>
                <a:ea typeface="Cambria" pitchFamily="34" charset="-122"/>
                <a:cs typeface="Cambria" pitchFamily="34" charset="-120"/>
              </a:rPr>
              <a:t>Update Total Otomatis</a:t>
            </a:r>
            <a:endParaRPr lang="en-US" sz="1450" dirty="0"/>
          </a:p>
        </p:txBody>
      </p:sp>
      <p:sp>
        <p:nvSpPr>
          <p:cNvPr id="12" name="Text 7"/>
          <p:cNvSpPr/>
          <p:nvPr/>
        </p:nvSpPr>
        <p:spPr>
          <a:xfrm>
            <a:off x="6903720" y="2953512"/>
            <a:ext cx="4709160" cy="685800"/>
          </a:xfrm>
          <a:prstGeom prst="rect">
            <a:avLst/>
          </a:prstGeom>
          <a:noFill/>
          <a:ln/>
        </p:spPr>
        <p:txBody>
          <a:bodyPr wrap="square" lIns="0" tIns="0" rIns="0" bIns="0" rtlCol="0" anchor="ctr"/>
          <a:lstStyle/>
          <a:p>
            <a:pPr marL="0" indent="0">
              <a:lnSpc>
                <a:spcPts val="1500"/>
              </a:lnSpc>
              <a:buNone/>
            </a:pPr>
            <a:r>
              <a:rPr lang="en-US" sz="1150" dirty="0">
                <a:solidFill>
                  <a:srgbClr val="26272B"/>
                </a:solidFill>
                <a:latin typeface="Calibri" pitchFamily="34" charset="0"/>
                <a:ea typeface="Calibri" pitchFamily="34" charset="-122"/>
                <a:cs typeface="Calibri" pitchFamily="34" charset="-120"/>
              </a:rPr>
              <a:t>Total belanja dihitung ulang setiap ada perubahan pada keranjang.</a:t>
            </a:r>
            <a:endParaRPr lang="en-US" sz="1150" dirty="0"/>
          </a:p>
        </p:txBody>
      </p:sp>
      <p:sp>
        <p:nvSpPr>
          <p:cNvPr id="13" name="Shape 8"/>
          <p:cNvSpPr/>
          <p:nvPr/>
        </p:nvSpPr>
        <p:spPr>
          <a:xfrm>
            <a:off x="6035040" y="3794760"/>
            <a:ext cx="658368" cy="658368"/>
          </a:xfrm>
          <a:prstGeom prst="ellipse">
            <a:avLst/>
          </a:prstGeom>
          <a:solidFill>
            <a:srgbClr val="CADCFC"/>
          </a:solidFill>
          <a:ln/>
        </p:spPr>
      </p:sp>
      <p:pic>
        <p:nvPicPr>
          <p:cNvPr id="14" name="Image 3" descr="preencoded.png"/>
          <p:cNvPicPr>
            <a:picLocks noChangeAspect="1"/>
          </p:cNvPicPr>
          <p:nvPr/>
        </p:nvPicPr>
        <p:blipFill>
          <a:blip r:embed="rId6"/>
          <a:stretch>
            <a:fillRect/>
          </a:stretch>
        </p:blipFill>
        <p:spPr>
          <a:xfrm>
            <a:off x="6206216" y="3965936"/>
            <a:ext cx="316017" cy="316017"/>
          </a:xfrm>
          <a:prstGeom prst="rect">
            <a:avLst/>
          </a:prstGeom>
        </p:spPr>
      </p:pic>
      <p:sp>
        <p:nvSpPr>
          <p:cNvPr id="15" name="Text 9"/>
          <p:cNvSpPr/>
          <p:nvPr/>
        </p:nvSpPr>
        <p:spPr>
          <a:xfrm>
            <a:off x="6903720" y="3776472"/>
            <a:ext cx="4709160" cy="365760"/>
          </a:xfrm>
          <a:prstGeom prst="rect">
            <a:avLst/>
          </a:prstGeom>
          <a:noFill/>
          <a:ln/>
        </p:spPr>
        <p:txBody>
          <a:bodyPr wrap="square" lIns="0" tIns="0" rIns="0" bIns="0" rtlCol="0" anchor="ctr"/>
          <a:lstStyle/>
          <a:p>
            <a:pPr marL="0" indent="0">
              <a:buNone/>
            </a:pPr>
            <a:r>
              <a:rPr lang="en-US" sz="1450" b="1" dirty="0">
                <a:solidFill>
                  <a:srgbClr val="141B45"/>
                </a:solidFill>
                <a:latin typeface="Cambria" pitchFamily="34" charset="0"/>
                <a:ea typeface="Cambria" pitchFamily="34" charset="-122"/>
                <a:cs typeface="Cambria" pitchFamily="34" charset="-120"/>
              </a:rPr>
              <a:t>Validasi Pembayaran</a:t>
            </a:r>
            <a:endParaRPr lang="en-US" sz="1450" dirty="0"/>
          </a:p>
        </p:txBody>
      </p:sp>
      <p:sp>
        <p:nvSpPr>
          <p:cNvPr id="16" name="Text 10"/>
          <p:cNvSpPr/>
          <p:nvPr/>
        </p:nvSpPr>
        <p:spPr>
          <a:xfrm>
            <a:off x="6903720" y="4142232"/>
            <a:ext cx="4709160" cy="685800"/>
          </a:xfrm>
          <a:prstGeom prst="rect">
            <a:avLst/>
          </a:prstGeom>
          <a:noFill/>
          <a:ln/>
        </p:spPr>
        <p:txBody>
          <a:bodyPr wrap="square" lIns="0" tIns="0" rIns="0" bIns="0" rtlCol="0" anchor="ctr"/>
          <a:lstStyle/>
          <a:p>
            <a:pPr marL="0" indent="0">
              <a:lnSpc>
                <a:spcPts val="1500"/>
              </a:lnSpc>
              <a:buNone/>
            </a:pPr>
            <a:r>
              <a:rPr lang="en-US" sz="1150" dirty="0">
                <a:solidFill>
                  <a:srgbClr val="26272B"/>
                </a:solidFill>
                <a:latin typeface="Calibri" pitchFamily="34" charset="0"/>
                <a:ea typeface="Calibri" pitchFamily="34" charset="-122"/>
                <a:cs typeface="Calibri" pitchFamily="34" charset="-120"/>
              </a:rPr>
              <a:t>Sistem memastikan uang yang dibayarkan mencukupi total belanja.</a:t>
            </a:r>
            <a:endParaRPr lang="en-US" sz="1150" dirty="0"/>
          </a:p>
        </p:txBody>
      </p:sp>
      <p:sp>
        <p:nvSpPr>
          <p:cNvPr id="17" name="Shape 11"/>
          <p:cNvSpPr/>
          <p:nvPr/>
        </p:nvSpPr>
        <p:spPr>
          <a:xfrm>
            <a:off x="6035040" y="4983480"/>
            <a:ext cx="658368" cy="658368"/>
          </a:xfrm>
          <a:prstGeom prst="ellipse">
            <a:avLst/>
          </a:prstGeom>
          <a:solidFill>
            <a:srgbClr val="CADCFC"/>
          </a:solidFill>
          <a:ln/>
        </p:spPr>
      </p:sp>
      <p:pic>
        <p:nvPicPr>
          <p:cNvPr id="18" name="Image 4" descr="preencoded.png"/>
          <p:cNvPicPr>
            <a:picLocks noChangeAspect="1"/>
          </p:cNvPicPr>
          <p:nvPr/>
        </p:nvPicPr>
        <p:blipFill>
          <a:blip r:embed="rId7"/>
          <a:stretch>
            <a:fillRect/>
          </a:stretch>
        </p:blipFill>
        <p:spPr>
          <a:xfrm>
            <a:off x="6206216" y="5154656"/>
            <a:ext cx="316017" cy="316017"/>
          </a:xfrm>
          <a:prstGeom prst="rect">
            <a:avLst/>
          </a:prstGeom>
        </p:spPr>
      </p:pic>
      <p:sp>
        <p:nvSpPr>
          <p:cNvPr id="19" name="Text 12"/>
          <p:cNvSpPr/>
          <p:nvPr/>
        </p:nvSpPr>
        <p:spPr>
          <a:xfrm>
            <a:off x="6903720" y="4965192"/>
            <a:ext cx="4709160" cy="365760"/>
          </a:xfrm>
          <a:prstGeom prst="rect">
            <a:avLst/>
          </a:prstGeom>
          <a:noFill/>
          <a:ln/>
        </p:spPr>
        <p:txBody>
          <a:bodyPr wrap="square" lIns="0" tIns="0" rIns="0" bIns="0" rtlCol="0" anchor="ctr"/>
          <a:lstStyle/>
          <a:p>
            <a:pPr marL="0" indent="0">
              <a:buNone/>
            </a:pPr>
            <a:r>
              <a:rPr lang="en-US" sz="1450" b="1" dirty="0">
                <a:solidFill>
                  <a:srgbClr val="141B45"/>
                </a:solidFill>
                <a:latin typeface="Cambria" pitchFamily="34" charset="0"/>
                <a:ea typeface="Cambria" pitchFamily="34" charset="-122"/>
                <a:cs typeface="Cambria" pitchFamily="34" charset="-120"/>
              </a:rPr>
              <a:t>Cetak Struk &amp; Kurangi Stok</a:t>
            </a:r>
            <a:endParaRPr lang="en-US" sz="1450" dirty="0"/>
          </a:p>
        </p:txBody>
      </p:sp>
      <p:sp>
        <p:nvSpPr>
          <p:cNvPr id="20" name="Text 13"/>
          <p:cNvSpPr/>
          <p:nvPr/>
        </p:nvSpPr>
        <p:spPr>
          <a:xfrm>
            <a:off x="6903720" y="5330952"/>
            <a:ext cx="4709160" cy="685800"/>
          </a:xfrm>
          <a:prstGeom prst="rect">
            <a:avLst/>
          </a:prstGeom>
          <a:noFill/>
          <a:ln/>
        </p:spPr>
        <p:txBody>
          <a:bodyPr wrap="square" lIns="0" tIns="0" rIns="0" bIns="0" rtlCol="0" anchor="ctr"/>
          <a:lstStyle/>
          <a:p>
            <a:pPr marL="0" indent="0">
              <a:lnSpc>
                <a:spcPts val="1500"/>
              </a:lnSpc>
              <a:buNone/>
            </a:pPr>
            <a:r>
              <a:rPr lang="en-US" sz="1150" dirty="0">
                <a:solidFill>
                  <a:srgbClr val="26272B"/>
                </a:solidFill>
                <a:latin typeface="Calibri" pitchFamily="34" charset="0"/>
                <a:ea typeface="Calibri" pitchFamily="34" charset="-122"/>
                <a:cs typeface="Calibri" pitchFamily="34" charset="-120"/>
              </a:rPr>
              <a:t>Jika valid, kembalian dihitung, stok berkurang, dan struk ditampilkan.</a:t>
            </a:r>
            <a:endParaRPr lang="en-US" sz="1150" dirty="0"/>
          </a:p>
        </p:txBody>
      </p:sp>
      <p:sp>
        <p:nvSpPr>
          <p:cNvPr id="21" name="Text 14"/>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ALUR PROGRAM</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Penjelasan Detail Alur Logika</a:t>
            </a:r>
            <a:endParaRPr lang="en-US" sz="2800" dirty="0"/>
          </a:p>
        </p:txBody>
      </p:sp>
      <p:sp>
        <p:nvSpPr>
          <p:cNvPr id="4" name="Shape 2"/>
          <p:cNvSpPr/>
          <p:nvPr/>
        </p:nvSpPr>
        <p:spPr>
          <a:xfrm>
            <a:off x="548640" y="1508760"/>
            <a:ext cx="457200" cy="457200"/>
          </a:xfrm>
          <a:prstGeom prst="ellipse">
            <a:avLst/>
          </a:prstGeom>
          <a:solidFill>
            <a:srgbClr val="1E2761"/>
          </a:solidFill>
          <a:ln/>
        </p:spPr>
      </p:sp>
      <p:sp>
        <p:nvSpPr>
          <p:cNvPr id="5" name="Text 3"/>
          <p:cNvSpPr/>
          <p:nvPr/>
        </p:nvSpPr>
        <p:spPr>
          <a:xfrm>
            <a:off x="548640" y="15087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70432" y="1463040"/>
            <a:ext cx="4727448" cy="685800"/>
          </a:xfrm>
          <a:prstGeom prst="rect">
            <a:avLst/>
          </a:prstGeom>
          <a:noFill/>
          <a:ln/>
        </p:spPr>
        <p:txBody>
          <a:bodyPr wrap="square" lIns="0" tIns="0" rIns="0" bIns="0" rtlCol="0" anchor="ctr"/>
          <a:lstStyle/>
          <a:p>
            <a:pPr marL="0" indent="0">
              <a:lnSpc>
                <a:spcPts val="1600"/>
              </a:lnSpc>
              <a:buNone/>
            </a:pPr>
            <a:r>
              <a:rPr lang="en-US" sz="1250" dirty="0">
                <a:solidFill>
                  <a:srgbClr val="26272B"/>
                </a:solidFill>
                <a:latin typeface="Calibri" pitchFamily="34" charset="0"/>
                <a:ea typeface="Calibri" pitchFamily="34" charset="-122"/>
                <a:cs typeface="Calibri" pitchFamily="34" charset="-120"/>
              </a:rPr>
              <a:t>Program menampilkan form kasir beserta daftar produk yang tersedia.</a:t>
            </a:r>
            <a:endParaRPr lang="en-US" sz="1250" dirty="0"/>
          </a:p>
        </p:txBody>
      </p:sp>
      <p:sp>
        <p:nvSpPr>
          <p:cNvPr id="7" name="Shape 5"/>
          <p:cNvSpPr/>
          <p:nvPr/>
        </p:nvSpPr>
        <p:spPr>
          <a:xfrm>
            <a:off x="548640" y="2221992"/>
            <a:ext cx="457200" cy="457200"/>
          </a:xfrm>
          <a:prstGeom prst="ellipse">
            <a:avLst/>
          </a:prstGeom>
          <a:solidFill>
            <a:srgbClr val="1E2761"/>
          </a:solidFill>
          <a:ln/>
        </p:spPr>
      </p:sp>
      <p:sp>
        <p:nvSpPr>
          <p:cNvPr id="8" name="Text 6"/>
          <p:cNvSpPr/>
          <p:nvPr/>
        </p:nvSpPr>
        <p:spPr>
          <a:xfrm>
            <a:off x="548640" y="222199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170432" y="2176272"/>
            <a:ext cx="4727448" cy="685800"/>
          </a:xfrm>
          <a:prstGeom prst="rect">
            <a:avLst/>
          </a:prstGeom>
          <a:noFill/>
          <a:ln/>
        </p:spPr>
        <p:txBody>
          <a:bodyPr wrap="square" lIns="0" tIns="0" rIns="0" bIns="0" rtlCol="0" anchor="ctr"/>
          <a:lstStyle/>
          <a:p>
            <a:pPr marL="0" indent="0">
              <a:lnSpc>
                <a:spcPts val="1600"/>
              </a:lnSpc>
              <a:buNone/>
            </a:pPr>
            <a:r>
              <a:rPr lang="en-US" sz="1250" dirty="0">
                <a:solidFill>
                  <a:srgbClr val="26272B"/>
                </a:solidFill>
                <a:latin typeface="Calibri" pitchFamily="34" charset="0"/>
                <a:ea typeface="Calibri" pitchFamily="34" charset="-122"/>
                <a:cs typeface="Calibri" pitchFamily="34" charset="-120"/>
              </a:rPr>
              <a:t>Pengguna memilih produk dan menentukan jumlah (qty) yang akan dibeli.</a:t>
            </a:r>
            <a:endParaRPr lang="en-US" sz="1250" dirty="0"/>
          </a:p>
        </p:txBody>
      </p:sp>
      <p:sp>
        <p:nvSpPr>
          <p:cNvPr id="10" name="Shape 8"/>
          <p:cNvSpPr/>
          <p:nvPr/>
        </p:nvSpPr>
        <p:spPr>
          <a:xfrm>
            <a:off x="548640" y="2935224"/>
            <a:ext cx="457200" cy="457200"/>
          </a:xfrm>
          <a:prstGeom prst="ellipse">
            <a:avLst/>
          </a:prstGeom>
          <a:solidFill>
            <a:srgbClr val="1E2761"/>
          </a:solidFill>
          <a:ln/>
        </p:spPr>
      </p:sp>
      <p:sp>
        <p:nvSpPr>
          <p:cNvPr id="11" name="Text 9"/>
          <p:cNvSpPr/>
          <p:nvPr/>
        </p:nvSpPr>
        <p:spPr>
          <a:xfrm>
            <a:off x="548640" y="2935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170432" y="2889504"/>
            <a:ext cx="4727448" cy="685800"/>
          </a:xfrm>
          <a:prstGeom prst="rect">
            <a:avLst/>
          </a:prstGeom>
          <a:noFill/>
          <a:ln/>
        </p:spPr>
        <p:txBody>
          <a:bodyPr wrap="square" lIns="0" tIns="0" rIns="0" bIns="0" rtlCol="0" anchor="ctr"/>
          <a:lstStyle/>
          <a:p>
            <a:pPr marL="0" indent="0">
              <a:lnSpc>
                <a:spcPts val="1600"/>
              </a:lnSpc>
              <a:buNone/>
            </a:pPr>
            <a:r>
              <a:rPr lang="en-US" sz="1250" dirty="0">
                <a:solidFill>
                  <a:srgbClr val="26272B"/>
                </a:solidFill>
                <a:latin typeface="Calibri" pitchFamily="34" charset="0"/>
                <a:ea typeface="Calibri" pitchFamily="34" charset="-122"/>
                <a:cs typeface="Calibri" pitchFamily="34" charset="-120"/>
              </a:rPr>
              <a:t>Sistem memeriksa apakah stok mencukupi sebelum menambahkan ke keranjang.</a:t>
            </a:r>
            <a:endParaRPr lang="en-US" sz="1250" dirty="0"/>
          </a:p>
        </p:txBody>
      </p:sp>
      <p:sp>
        <p:nvSpPr>
          <p:cNvPr id="13" name="Shape 11"/>
          <p:cNvSpPr/>
          <p:nvPr/>
        </p:nvSpPr>
        <p:spPr>
          <a:xfrm>
            <a:off x="548640" y="3648456"/>
            <a:ext cx="457200" cy="457200"/>
          </a:xfrm>
          <a:prstGeom prst="ellipse">
            <a:avLst/>
          </a:prstGeom>
          <a:solidFill>
            <a:srgbClr val="1E2761"/>
          </a:solidFill>
          <a:ln/>
        </p:spPr>
      </p:sp>
      <p:sp>
        <p:nvSpPr>
          <p:cNvPr id="14" name="Text 12"/>
          <p:cNvSpPr/>
          <p:nvPr/>
        </p:nvSpPr>
        <p:spPr>
          <a:xfrm>
            <a:off x="548640" y="364845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170432" y="3602736"/>
            <a:ext cx="4727448" cy="685800"/>
          </a:xfrm>
          <a:prstGeom prst="rect">
            <a:avLst/>
          </a:prstGeom>
          <a:noFill/>
          <a:ln/>
        </p:spPr>
        <p:txBody>
          <a:bodyPr wrap="square" lIns="0" tIns="0" rIns="0" bIns="0" rtlCol="0" anchor="ctr"/>
          <a:lstStyle/>
          <a:p>
            <a:pPr marL="0" indent="0">
              <a:lnSpc>
                <a:spcPts val="1600"/>
              </a:lnSpc>
              <a:buNone/>
            </a:pPr>
            <a:r>
              <a:rPr lang="en-US" sz="1250" dirty="0">
                <a:solidFill>
                  <a:srgbClr val="26272B"/>
                </a:solidFill>
                <a:latin typeface="Calibri" pitchFamily="34" charset="0"/>
                <a:ea typeface="Calibri" pitchFamily="34" charset="-122"/>
                <a:cs typeface="Calibri" pitchFamily="34" charset="-120"/>
              </a:rPr>
              <a:t>Jika stok tidak cukup, tampil pesan peringatan dan pengguna memilih ulang.</a:t>
            </a:r>
            <a:endParaRPr lang="en-US" sz="1250" dirty="0"/>
          </a:p>
        </p:txBody>
      </p:sp>
      <p:sp>
        <p:nvSpPr>
          <p:cNvPr id="16" name="Shape 14"/>
          <p:cNvSpPr/>
          <p:nvPr/>
        </p:nvSpPr>
        <p:spPr>
          <a:xfrm>
            <a:off x="6263640" y="1508760"/>
            <a:ext cx="457200" cy="457200"/>
          </a:xfrm>
          <a:prstGeom prst="ellipse">
            <a:avLst/>
          </a:prstGeom>
          <a:solidFill>
            <a:srgbClr val="1E2761"/>
          </a:solidFill>
          <a:ln/>
        </p:spPr>
      </p:sp>
      <p:sp>
        <p:nvSpPr>
          <p:cNvPr id="17" name="Text 15"/>
          <p:cNvSpPr/>
          <p:nvPr/>
        </p:nvSpPr>
        <p:spPr>
          <a:xfrm>
            <a:off x="6263640" y="15087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6885432" y="1463040"/>
            <a:ext cx="4727448" cy="685800"/>
          </a:xfrm>
          <a:prstGeom prst="rect">
            <a:avLst/>
          </a:prstGeom>
          <a:noFill/>
          <a:ln/>
        </p:spPr>
        <p:txBody>
          <a:bodyPr wrap="square" lIns="0" tIns="0" rIns="0" bIns="0" rtlCol="0" anchor="ctr"/>
          <a:lstStyle/>
          <a:p>
            <a:pPr marL="0" indent="0">
              <a:lnSpc>
                <a:spcPts val="1600"/>
              </a:lnSpc>
              <a:buNone/>
            </a:pPr>
            <a:r>
              <a:rPr lang="en-US" sz="1250" dirty="0">
                <a:solidFill>
                  <a:srgbClr val="26272B"/>
                </a:solidFill>
                <a:latin typeface="Calibri" pitchFamily="34" charset="0"/>
                <a:ea typeface="Calibri" pitchFamily="34" charset="-122"/>
                <a:cs typeface="Calibri" pitchFamily="34" charset="-120"/>
              </a:rPr>
              <a:t>Item ditambahkan/diperbarui di keranjang, total dihitung ulang otomatis.</a:t>
            </a:r>
            <a:endParaRPr lang="en-US" sz="1250" dirty="0"/>
          </a:p>
        </p:txBody>
      </p:sp>
      <p:sp>
        <p:nvSpPr>
          <p:cNvPr id="19" name="Shape 17"/>
          <p:cNvSpPr/>
          <p:nvPr/>
        </p:nvSpPr>
        <p:spPr>
          <a:xfrm>
            <a:off x="6263640" y="2221992"/>
            <a:ext cx="457200" cy="457200"/>
          </a:xfrm>
          <a:prstGeom prst="ellipse">
            <a:avLst/>
          </a:prstGeom>
          <a:solidFill>
            <a:srgbClr val="1E2761"/>
          </a:solidFill>
          <a:ln/>
        </p:spPr>
      </p:sp>
      <p:sp>
        <p:nvSpPr>
          <p:cNvPr id="20" name="Text 18"/>
          <p:cNvSpPr/>
          <p:nvPr/>
        </p:nvSpPr>
        <p:spPr>
          <a:xfrm>
            <a:off x="6263640" y="222199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p:nvPr/>
        </p:nvSpPr>
        <p:spPr>
          <a:xfrm>
            <a:off x="6885432" y="2176272"/>
            <a:ext cx="4727448" cy="685800"/>
          </a:xfrm>
          <a:prstGeom prst="rect">
            <a:avLst/>
          </a:prstGeom>
          <a:noFill/>
          <a:ln/>
        </p:spPr>
        <p:txBody>
          <a:bodyPr wrap="square" lIns="0" tIns="0" rIns="0" bIns="0" rtlCol="0" anchor="ctr"/>
          <a:lstStyle/>
          <a:p>
            <a:pPr marL="0" indent="0">
              <a:lnSpc>
                <a:spcPts val="1600"/>
              </a:lnSpc>
              <a:buNone/>
            </a:pPr>
            <a:r>
              <a:rPr lang="en-US" sz="1250" dirty="0">
                <a:solidFill>
                  <a:srgbClr val="26272B"/>
                </a:solidFill>
                <a:latin typeface="Calibri" pitchFamily="34" charset="0"/>
                <a:ea typeface="Calibri" pitchFamily="34" charset="-122"/>
                <a:cs typeface="Calibri" pitchFamily="34" charset="-120"/>
              </a:rPr>
              <a:t>Saat checkout, sistem memvalidasi jumlah uang pembayaran terhadap total.</a:t>
            </a:r>
            <a:endParaRPr lang="en-US" sz="1250" dirty="0"/>
          </a:p>
        </p:txBody>
      </p:sp>
      <p:sp>
        <p:nvSpPr>
          <p:cNvPr id="22" name="Shape 20"/>
          <p:cNvSpPr/>
          <p:nvPr/>
        </p:nvSpPr>
        <p:spPr>
          <a:xfrm>
            <a:off x="6263640" y="2935224"/>
            <a:ext cx="457200" cy="457200"/>
          </a:xfrm>
          <a:prstGeom prst="ellipse">
            <a:avLst/>
          </a:prstGeom>
          <a:solidFill>
            <a:srgbClr val="1E2761"/>
          </a:solidFill>
          <a:ln/>
        </p:spPr>
      </p:sp>
      <p:sp>
        <p:nvSpPr>
          <p:cNvPr id="23" name="Text 21"/>
          <p:cNvSpPr/>
          <p:nvPr/>
        </p:nvSpPr>
        <p:spPr>
          <a:xfrm>
            <a:off x="6263640" y="2935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4" name="Text 22"/>
          <p:cNvSpPr/>
          <p:nvPr/>
        </p:nvSpPr>
        <p:spPr>
          <a:xfrm>
            <a:off x="6885432" y="2889504"/>
            <a:ext cx="4727448" cy="685800"/>
          </a:xfrm>
          <a:prstGeom prst="rect">
            <a:avLst/>
          </a:prstGeom>
          <a:noFill/>
          <a:ln/>
        </p:spPr>
        <p:txBody>
          <a:bodyPr wrap="square" lIns="0" tIns="0" rIns="0" bIns="0" rtlCol="0" anchor="ctr"/>
          <a:lstStyle/>
          <a:p>
            <a:pPr marL="0" indent="0">
              <a:lnSpc>
                <a:spcPts val="1600"/>
              </a:lnSpc>
              <a:buNone/>
            </a:pPr>
            <a:r>
              <a:rPr lang="en-US" sz="1250" dirty="0">
                <a:solidFill>
                  <a:srgbClr val="26272B"/>
                </a:solidFill>
                <a:latin typeface="Calibri" pitchFamily="34" charset="0"/>
                <a:ea typeface="Calibri" pitchFamily="34" charset="-122"/>
                <a:cs typeface="Calibri" pitchFamily="34" charset="-120"/>
              </a:rPr>
              <a:t>Jika valid, kembalian dihitung, stok dikurangi, dan struk belanja ditampilkan.</a:t>
            </a:r>
            <a:endParaRPr lang="en-US" sz="1250" dirty="0"/>
          </a:p>
        </p:txBody>
      </p:sp>
      <p:sp>
        <p:nvSpPr>
          <p:cNvPr id="25" name="Text 23"/>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PERANCANGAN ANTARMUKA</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Tampilan Antarmuka Program (Wireframe)</a:t>
            </a:r>
            <a:endParaRPr lang="en-US" sz="2800" dirty="0"/>
          </a:p>
        </p:txBody>
      </p:sp>
      <p:sp>
        <p:nvSpPr>
          <p:cNvPr id="4" name="Shape 2"/>
          <p:cNvSpPr/>
          <p:nvPr/>
        </p:nvSpPr>
        <p:spPr>
          <a:xfrm>
            <a:off x="822960" y="1463040"/>
            <a:ext cx="10515600" cy="4709160"/>
          </a:xfrm>
          <a:prstGeom prst="roundRect">
            <a:avLst>
              <a:gd name="adj" fmla="val 1165"/>
            </a:avLst>
          </a:prstGeom>
          <a:solidFill>
            <a:srgbClr val="F4F6FB"/>
          </a:solidFill>
          <a:ln w="12700">
            <a:solidFill>
              <a:srgbClr val="D5DCEA"/>
            </a:solidFill>
            <a:prstDash val="solid"/>
          </a:ln>
          <a:effectLst>
            <a:outerShdw blurRad="101600" dist="38100" dir="2700000" algn="bl" rotWithShape="0">
              <a:srgbClr val="000000">
                <a:alpha val="12000"/>
              </a:srgbClr>
            </a:outerShdw>
          </a:effectLst>
        </p:spPr>
      </p:sp>
      <p:sp>
        <p:nvSpPr>
          <p:cNvPr id="5" name="Shape 3"/>
          <p:cNvSpPr/>
          <p:nvPr/>
        </p:nvSpPr>
        <p:spPr>
          <a:xfrm>
            <a:off x="822960" y="1463040"/>
            <a:ext cx="10515600" cy="365760"/>
          </a:xfrm>
          <a:prstGeom prst="rect">
            <a:avLst/>
          </a:prstGeom>
          <a:solidFill>
            <a:srgbClr val="1E2761"/>
          </a:solidFill>
          <a:ln/>
        </p:spPr>
      </p:sp>
      <p:sp>
        <p:nvSpPr>
          <p:cNvPr id="6" name="Shape 4"/>
          <p:cNvSpPr/>
          <p:nvPr/>
        </p:nvSpPr>
        <p:spPr>
          <a:xfrm>
            <a:off x="987552" y="1581912"/>
            <a:ext cx="128016" cy="128016"/>
          </a:xfrm>
          <a:prstGeom prst="ellipse">
            <a:avLst/>
          </a:prstGeom>
          <a:solidFill>
            <a:srgbClr val="F96167"/>
          </a:solidFill>
          <a:ln/>
        </p:spPr>
      </p:sp>
      <p:sp>
        <p:nvSpPr>
          <p:cNvPr id="7" name="Shape 5"/>
          <p:cNvSpPr/>
          <p:nvPr/>
        </p:nvSpPr>
        <p:spPr>
          <a:xfrm>
            <a:off x="1243584" y="1581912"/>
            <a:ext cx="128016" cy="128016"/>
          </a:xfrm>
          <a:prstGeom prst="ellipse">
            <a:avLst/>
          </a:prstGeom>
          <a:solidFill>
            <a:srgbClr val="F9E795"/>
          </a:solidFill>
          <a:ln/>
        </p:spPr>
      </p:sp>
      <p:sp>
        <p:nvSpPr>
          <p:cNvPr id="8" name="Shape 6"/>
          <p:cNvSpPr/>
          <p:nvPr/>
        </p:nvSpPr>
        <p:spPr>
          <a:xfrm>
            <a:off x="1499616" y="1581912"/>
            <a:ext cx="128016" cy="128016"/>
          </a:xfrm>
          <a:prstGeom prst="ellipse">
            <a:avLst/>
          </a:prstGeom>
          <a:solidFill>
            <a:srgbClr val="6FA05A"/>
          </a:solidFill>
          <a:ln/>
        </p:spPr>
      </p:sp>
      <p:sp>
        <p:nvSpPr>
          <p:cNvPr id="9" name="Text 7"/>
          <p:cNvSpPr/>
          <p:nvPr/>
        </p:nvSpPr>
        <p:spPr>
          <a:xfrm>
            <a:off x="1920240" y="1463040"/>
            <a:ext cx="365760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Aplikasi Kasir Sederhana</a:t>
            </a:r>
            <a:endParaRPr lang="en-US" sz="1100" dirty="0"/>
          </a:p>
        </p:txBody>
      </p:sp>
      <p:sp>
        <p:nvSpPr>
          <p:cNvPr id="10" name="Shape 8"/>
          <p:cNvSpPr/>
          <p:nvPr/>
        </p:nvSpPr>
        <p:spPr>
          <a:xfrm>
            <a:off x="1097280" y="2057400"/>
            <a:ext cx="5468112" cy="3794760"/>
          </a:xfrm>
          <a:prstGeom prst="roundRect">
            <a:avLst>
              <a:gd name="adj" fmla="val 1205"/>
            </a:avLst>
          </a:prstGeom>
          <a:solidFill>
            <a:srgbClr val="FFFFFF"/>
          </a:solidFill>
          <a:ln w="12700">
            <a:solidFill>
              <a:srgbClr val="D5DCEA"/>
            </a:solidFill>
            <a:prstDash val="solid"/>
          </a:ln>
        </p:spPr>
      </p:sp>
      <p:sp>
        <p:nvSpPr>
          <p:cNvPr id="11" name="Text 9"/>
          <p:cNvSpPr/>
          <p:nvPr/>
        </p:nvSpPr>
        <p:spPr>
          <a:xfrm>
            <a:off x="1234440" y="2130552"/>
            <a:ext cx="5193792" cy="274320"/>
          </a:xfrm>
          <a:prstGeom prst="rect">
            <a:avLst/>
          </a:prstGeom>
          <a:noFill/>
          <a:ln/>
        </p:spPr>
        <p:txBody>
          <a:bodyPr wrap="square" lIns="0" tIns="0" rIns="0" bIns="0" rtlCol="0" anchor="ctr"/>
          <a:lstStyle/>
          <a:p>
            <a:pPr marL="0" indent="0">
              <a:buNone/>
            </a:pPr>
            <a:r>
              <a:rPr lang="en-US" sz="1150" b="1" dirty="0">
                <a:solidFill>
                  <a:srgbClr val="141B45"/>
                </a:solidFill>
                <a:latin typeface="Calibri" pitchFamily="34" charset="0"/>
                <a:ea typeface="Calibri" pitchFamily="34" charset="-122"/>
                <a:cs typeface="Calibri" pitchFamily="34" charset="-120"/>
              </a:rPr>
              <a:t>Daftar Produk</a:t>
            </a:r>
            <a:endParaRPr lang="en-US" sz="1150" dirty="0"/>
          </a:p>
        </p:txBody>
      </p:sp>
      <p:sp>
        <p:nvSpPr>
          <p:cNvPr id="12" name="Text 10"/>
          <p:cNvSpPr/>
          <p:nvPr/>
        </p:nvSpPr>
        <p:spPr>
          <a:xfrm>
            <a:off x="1234440" y="2441448"/>
            <a:ext cx="548640" cy="228600"/>
          </a:xfrm>
          <a:prstGeom prst="rect">
            <a:avLst/>
          </a:prstGeom>
          <a:solidFill>
            <a:srgbClr val="1E276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Kode</a:t>
            </a:r>
            <a:endParaRPr lang="en-US" sz="900" dirty="0"/>
          </a:p>
        </p:txBody>
      </p:sp>
      <p:sp>
        <p:nvSpPr>
          <p:cNvPr id="13" name="Text 11"/>
          <p:cNvSpPr/>
          <p:nvPr/>
        </p:nvSpPr>
        <p:spPr>
          <a:xfrm>
            <a:off x="1783080" y="2441448"/>
            <a:ext cx="1691640" cy="228600"/>
          </a:xfrm>
          <a:prstGeom prst="rect">
            <a:avLst/>
          </a:prstGeom>
          <a:solidFill>
            <a:srgbClr val="1E276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Nama Barang</a:t>
            </a:r>
            <a:endParaRPr lang="en-US" sz="900" dirty="0"/>
          </a:p>
        </p:txBody>
      </p:sp>
      <p:sp>
        <p:nvSpPr>
          <p:cNvPr id="14" name="Text 12"/>
          <p:cNvSpPr/>
          <p:nvPr/>
        </p:nvSpPr>
        <p:spPr>
          <a:xfrm>
            <a:off x="3474720" y="2441448"/>
            <a:ext cx="822960" cy="228600"/>
          </a:xfrm>
          <a:prstGeom prst="rect">
            <a:avLst/>
          </a:prstGeom>
          <a:solidFill>
            <a:srgbClr val="1E276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Harga</a:t>
            </a:r>
            <a:endParaRPr lang="en-US" sz="900" dirty="0"/>
          </a:p>
        </p:txBody>
      </p:sp>
      <p:sp>
        <p:nvSpPr>
          <p:cNvPr id="15" name="Text 13"/>
          <p:cNvSpPr/>
          <p:nvPr/>
        </p:nvSpPr>
        <p:spPr>
          <a:xfrm>
            <a:off x="4297680" y="2441448"/>
            <a:ext cx="548640" cy="228600"/>
          </a:xfrm>
          <a:prstGeom prst="rect">
            <a:avLst/>
          </a:prstGeom>
          <a:solidFill>
            <a:srgbClr val="1E276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Stok</a:t>
            </a:r>
            <a:endParaRPr lang="en-US" sz="900" dirty="0"/>
          </a:p>
        </p:txBody>
      </p:sp>
      <p:sp>
        <p:nvSpPr>
          <p:cNvPr id="16" name="Text 14"/>
          <p:cNvSpPr/>
          <p:nvPr/>
        </p:nvSpPr>
        <p:spPr>
          <a:xfrm>
            <a:off x="1234440" y="2697480"/>
            <a:ext cx="548640" cy="274320"/>
          </a:xfrm>
          <a:prstGeom prst="rect">
            <a:avLst/>
          </a:prstGeom>
          <a:solidFill>
            <a:srgbClr val="FFFFFF"/>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P001</a:t>
            </a:r>
            <a:endParaRPr lang="en-US" sz="900" dirty="0"/>
          </a:p>
        </p:txBody>
      </p:sp>
      <p:sp>
        <p:nvSpPr>
          <p:cNvPr id="17" name="Text 15"/>
          <p:cNvSpPr/>
          <p:nvPr/>
        </p:nvSpPr>
        <p:spPr>
          <a:xfrm>
            <a:off x="1783080" y="2697480"/>
            <a:ext cx="1691640" cy="274320"/>
          </a:xfrm>
          <a:prstGeom prst="rect">
            <a:avLst/>
          </a:prstGeom>
          <a:solidFill>
            <a:srgbClr val="FFFFFF"/>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Indomie Goreng</a:t>
            </a:r>
            <a:endParaRPr lang="en-US" sz="900" dirty="0"/>
          </a:p>
        </p:txBody>
      </p:sp>
      <p:sp>
        <p:nvSpPr>
          <p:cNvPr id="18" name="Text 16"/>
          <p:cNvSpPr/>
          <p:nvPr/>
        </p:nvSpPr>
        <p:spPr>
          <a:xfrm>
            <a:off x="3474720" y="2697480"/>
            <a:ext cx="822960" cy="274320"/>
          </a:xfrm>
          <a:prstGeom prst="rect">
            <a:avLst/>
          </a:prstGeom>
          <a:solidFill>
            <a:srgbClr val="FFFFFF"/>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Rp 3.500</a:t>
            </a:r>
            <a:endParaRPr lang="en-US" sz="900" dirty="0"/>
          </a:p>
        </p:txBody>
      </p:sp>
      <p:sp>
        <p:nvSpPr>
          <p:cNvPr id="19" name="Text 17"/>
          <p:cNvSpPr/>
          <p:nvPr/>
        </p:nvSpPr>
        <p:spPr>
          <a:xfrm>
            <a:off x="4297680" y="2697480"/>
            <a:ext cx="548640" cy="274320"/>
          </a:xfrm>
          <a:prstGeom prst="rect">
            <a:avLst/>
          </a:prstGeom>
          <a:solidFill>
            <a:srgbClr val="FFFFFF"/>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50</a:t>
            </a:r>
            <a:endParaRPr lang="en-US" sz="900" dirty="0"/>
          </a:p>
        </p:txBody>
      </p:sp>
      <p:sp>
        <p:nvSpPr>
          <p:cNvPr id="20" name="Text 18"/>
          <p:cNvSpPr/>
          <p:nvPr/>
        </p:nvSpPr>
        <p:spPr>
          <a:xfrm>
            <a:off x="1234440" y="2990088"/>
            <a:ext cx="548640" cy="274320"/>
          </a:xfrm>
          <a:prstGeom prst="rect">
            <a:avLst/>
          </a:prstGeom>
          <a:solidFill>
            <a:srgbClr val="F4F6FB"/>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P002</a:t>
            </a:r>
            <a:endParaRPr lang="en-US" sz="900" dirty="0"/>
          </a:p>
        </p:txBody>
      </p:sp>
      <p:sp>
        <p:nvSpPr>
          <p:cNvPr id="21" name="Text 19"/>
          <p:cNvSpPr/>
          <p:nvPr/>
        </p:nvSpPr>
        <p:spPr>
          <a:xfrm>
            <a:off x="1783080" y="2990088"/>
            <a:ext cx="1691640" cy="274320"/>
          </a:xfrm>
          <a:prstGeom prst="rect">
            <a:avLst/>
          </a:prstGeom>
          <a:solidFill>
            <a:srgbClr val="F4F6FB"/>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Aqua Botol 600ml</a:t>
            </a:r>
            <a:endParaRPr lang="en-US" sz="900" dirty="0"/>
          </a:p>
        </p:txBody>
      </p:sp>
      <p:sp>
        <p:nvSpPr>
          <p:cNvPr id="22" name="Text 20"/>
          <p:cNvSpPr/>
          <p:nvPr/>
        </p:nvSpPr>
        <p:spPr>
          <a:xfrm>
            <a:off x="3474720" y="2990088"/>
            <a:ext cx="822960" cy="274320"/>
          </a:xfrm>
          <a:prstGeom prst="rect">
            <a:avLst/>
          </a:prstGeom>
          <a:solidFill>
            <a:srgbClr val="F4F6FB"/>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Rp 4.000</a:t>
            </a:r>
            <a:endParaRPr lang="en-US" sz="900" dirty="0"/>
          </a:p>
        </p:txBody>
      </p:sp>
      <p:sp>
        <p:nvSpPr>
          <p:cNvPr id="23" name="Text 21"/>
          <p:cNvSpPr/>
          <p:nvPr/>
        </p:nvSpPr>
        <p:spPr>
          <a:xfrm>
            <a:off x="4297680" y="2990088"/>
            <a:ext cx="548640" cy="274320"/>
          </a:xfrm>
          <a:prstGeom prst="rect">
            <a:avLst/>
          </a:prstGeom>
          <a:solidFill>
            <a:srgbClr val="F4F6FB"/>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40</a:t>
            </a:r>
            <a:endParaRPr lang="en-US" sz="900" dirty="0"/>
          </a:p>
        </p:txBody>
      </p:sp>
      <p:sp>
        <p:nvSpPr>
          <p:cNvPr id="24" name="Text 22"/>
          <p:cNvSpPr/>
          <p:nvPr/>
        </p:nvSpPr>
        <p:spPr>
          <a:xfrm>
            <a:off x="1234440" y="3282696"/>
            <a:ext cx="548640" cy="274320"/>
          </a:xfrm>
          <a:prstGeom prst="rect">
            <a:avLst/>
          </a:prstGeom>
          <a:solidFill>
            <a:srgbClr val="FFFFFF"/>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P003</a:t>
            </a:r>
            <a:endParaRPr lang="en-US" sz="900" dirty="0"/>
          </a:p>
        </p:txBody>
      </p:sp>
      <p:sp>
        <p:nvSpPr>
          <p:cNvPr id="25" name="Text 23"/>
          <p:cNvSpPr/>
          <p:nvPr/>
        </p:nvSpPr>
        <p:spPr>
          <a:xfrm>
            <a:off x="1783080" y="3282696"/>
            <a:ext cx="1691640" cy="274320"/>
          </a:xfrm>
          <a:prstGeom prst="rect">
            <a:avLst/>
          </a:prstGeom>
          <a:solidFill>
            <a:srgbClr val="FFFFFF"/>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Teh Pucuk 350ml</a:t>
            </a:r>
            <a:endParaRPr lang="en-US" sz="900" dirty="0"/>
          </a:p>
        </p:txBody>
      </p:sp>
      <p:sp>
        <p:nvSpPr>
          <p:cNvPr id="26" name="Text 24"/>
          <p:cNvSpPr/>
          <p:nvPr/>
        </p:nvSpPr>
        <p:spPr>
          <a:xfrm>
            <a:off x="3474720" y="3282696"/>
            <a:ext cx="822960" cy="274320"/>
          </a:xfrm>
          <a:prstGeom prst="rect">
            <a:avLst/>
          </a:prstGeom>
          <a:solidFill>
            <a:srgbClr val="FFFFFF"/>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Rp 5.000</a:t>
            </a:r>
            <a:endParaRPr lang="en-US" sz="900" dirty="0"/>
          </a:p>
        </p:txBody>
      </p:sp>
      <p:sp>
        <p:nvSpPr>
          <p:cNvPr id="27" name="Text 25"/>
          <p:cNvSpPr/>
          <p:nvPr/>
        </p:nvSpPr>
        <p:spPr>
          <a:xfrm>
            <a:off x="4297680" y="3282696"/>
            <a:ext cx="548640" cy="274320"/>
          </a:xfrm>
          <a:prstGeom prst="rect">
            <a:avLst/>
          </a:prstGeom>
          <a:solidFill>
            <a:srgbClr val="FFFFFF"/>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30</a:t>
            </a:r>
            <a:endParaRPr lang="en-US" sz="900" dirty="0"/>
          </a:p>
        </p:txBody>
      </p:sp>
      <p:sp>
        <p:nvSpPr>
          <p:cNvPr id="28" name="Text 26"/>
          <p:cNvSpPr/>
          <p:nvPr/>
        </p:nvSpPr>
        <p:spPr>
          <a:xfrm>
            <a:off x="1234440" y="3575304"/>
            <a:ext cx="548640" cy="274320"/>
          </a:xfrm>
          <a:prstGeom prst="rect">
            <a:avLst/>
          </a:prstGeom>
          <a:solidFill>
            <a:srgbClr val="F4F6FB"/>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P004</a:t>
            </a:r>
            <a:endParaRPr lang="en-US" sz="900" dirty="0"/>
          </a:p>
        </p:txBody>
      </p:sp>
      <p:sp>
        <p:nvSpPr>
          <p:cNvPr id="29" name="Text 27"/>
          <p:cNvSpPr/>
          <p:nvPr/>
        </p:nvSpPr>
        <p:spPr>
          <a:xfrm>
            <a:off x="1783080" y="3575304"/>
            <a:ext cx="1691640" cy="274320"/>
          </a:xfrm>
          <a:prstGeom prst="rect">
            <a:avLst/>
          </a:prstGeom>
          <a:solidFill>
            <a:srgbClr val="F4F6FB"/>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Roti Tawar</a:t>
            </a:r>
            <a:endParaRPr lang="en-US" sz="900" dirty="0"/>
          </a:p>
        </p:txBody>
      </p:sp>
      <p:sp>
        <p:nvSpPr>
          <p:cNvPr id="30" name="Text 28"/>
          <p:cNvSpPr/>
          <p:nvPr/>
        </p:nvSpPr>
        <p:spPr>
          <a:xfrm>
            <a:off x="3474720" y="3575304"/>
            <a:ext cx="822960" cy="274320"/>
          </a:xfrm>
          <a:prstGeom prst="rect">
            <a:avLst/>
          </a:prstGeom>
          <a:solidFill>
            <a:srgbClr val="F4F6FB"/>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Rp 15.000</a:t>
            </a:r>
            <a:endParaRPr lang="en-US" sz="900" dirty="0"/>
          </a:p>
        </p:txBody>
      </p:sp>
      <p:sp>
        <p:nvSpPr>
          <p:cNvPr id="31" name="Text 29"/>
          <p:cNvSpPr/>
          <p:nvPr/>
        </p:nvSpPr>
        <p:spPr>
          <a:xfrm>
            <a:off x="4297680" y="3575304"/>
            <a:ext cx="548640" cy="274320"/>
          </a:xfrm>
          <a:prstGeom prst="rect">
            <a:avLst/>
          </a:prstGeom>
          <a:solidFill>
            <a:srgbClr val="F4F6FB"/>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20</a:t>
            </a:r>
            <a:endParaRPr lang="en-US" sz="900" dirty="0"/>
          </a:p>
        </p:txBody>
      </p:sp>
      <p:sp>
        <p:nvSpPr>
          <p:cNvPr id="32" name="Shape 30"/>
          <p:cNvSpPr/>
          <p:nvPr/>
        </p:nvSpPr>
        <p:spPr>
          <a:xfrm>
            <a:off x="4462272" y="5349240"/>
            <a:ext cx="1920240" cy="365760"/>
          </a:xfrm>
          <a:prstGeom prst="roundRect">
            <a:avLst>
              <a:gd name="adj" fmla="val 15000"/>
            </a:avLst>
          </a:prstGeom>
          <a:solidFill>
            <a:srgbClr val="1E2761"/>
          </a:solidFill>
          <a:ln/>
        </p:spPr>
      </p:sp>
      <p:sp>
        <p:nvSpPr>
          <p:cNvPr id="33" name="Text 31"/>
          <p:cNvSpPr/>
          <p:nvPr/>
        </p:nvSpPr>
        <p:spPr>
          <a:xfrm>
            <a:off x="4462272" y="5349240"/>
            <a:ext cx="19202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Tambah ke Keranjang →</a:t>
            </a:r>
            <a:endParaRPr lang="en-US" sz="900" dirty="0"/>
          </a:p>
        </p:txBody>
      </p:sp>
      <p:sp>
        <p:nvSpPr>
          <p:cNvPr id="34" name="Shape 32"/>
          <p:cNvSpPr/>
          <p:nvPr/>
        </p:nvSpPr>
        <p:spPr>
          <a:xfrm>
            <a:off x="6839712" y="2057400"/>
            <a:ext cx="4224528" cy="3794760"/>
          </a:xfrm>
          <a:prstGeom prst="roundRect">
            <a:avLst>
              <a:gd name="adj" fmla="val 1205"/>
            </a:avLst>
          </a:prstGeom>
          <a:solidFill>
            <a:srgbClr val="FFFFFF"/>
          </a:solidFill>
          <a:ln w="12700">
            <a:solidFill>
              <a:srgbClr val="D5DCEA"/>
            </a:solidFill>
            <a:prstDash val="solid"/>
          </a:ln>
        </p:spPr>
      </p:sp>
      <p:sp>
        <p:nvSpPr>
          <p:cNvPr id="35" name="Text 33"/>
          <p:cNvSpPr/>
          <p:nvPr/>
        </p:nvSpPr>
        <p:spPr>
          <a:xfrm>
            <a:off x="6976872" y="2130552"/>
            <a:ext cx="3950208" cy="274320"/>
          </a:xfrm>
          <a:prstGeom prst="rect">
            <a:avLst/>
          </a:prstGeom>
          <a:noFill/>
          <a:ln/>
        </p:spPr>
        <p:txBody>
          <a:bodyPr wrap="square" lIns="0" tIns="0" rIns="0" bIns="0" rtlCol="0" anchor="ctr"/>
          <a:lstStyle/>
          <a:p>
            <a:pPr marL="0" indent="0">
              <a:buNone/>
            </a:pPr>
            <a:r>
              <a:rPr lang="en-US" sz="1150" b="1" dirty="0">
                <a:solidFill>
                  <a:srgbClr val="141B45"/>
                </a:solidFill>
                <a:latin typeface="Calibri" pitchFamily="34" charset="0"/>
                <a:ea typeface="Calibri" pitchFamily="34" charset="-122"/>
                <a:cs typeface="Calibri" pitchFamily="34" charset="-120"/>
              </a:rPr>
              <a:t>Keranjang Belanja</a:t>
            </a:r>
            <a:endParaRPr lang="en-US" sz="1150" dirty="0"/>
          </a:p>
        </p:txBody>
      </p:sp>
      <p:sp>
        <p:nvSpPr>
          <p:cNvPr id="36" name="Text 34"/>
          <p:cNvSpPr/>
          <p:nvPr/>
        </p:nvSpPr>
        <p:spPr>
          <a:xfrm>
            <a:off x="6976872" y="2441448"/>
            <a:ext cx="1417320" cy="228600"/>
          </a:xfrm>
          <a:prstGeom prst="rect">
            <a:avLst/>
          </a:prstGeom>
          <a:solidFill>
            <a:srgbClr val="1E276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Nama</a:t>
            </a:r>
            <a:endParaRPr lang="en-US" sz="900" dirty="0"/>
          </a:p>
        </p:txBody>
      </p:sp>
      <p:sp>
        <p:nvSpPr>
          <p:cNvPr id="37" name="Text 35"/>
          <p:cNvSpPr/>
          <p:nvPr/>
        </p:nvSpPr>
        <p:spPr>
          <a:xfrm>
            <a:off x="8394192" y="2441448"/>
            <a:ext cx="457200" cy="228600"/>
          </a:xfrm>
          <a:prstGeom prst="rect">
            <a:avLst/>
          </a:prstGeom>
          <a:solidFill>
            <a:srgbClr val="1E276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Qty</a:t>
            </a:r>
            <a:endParaRPr lang="en-US" sz="900" dirty="0"/>
          </a:p>
        </p:txBody>
      </p:sp>
      <p:sp>
        <p:nvSpPr>
          <p:cNvPr id="38" name="Text 36"/>
          <p:cNvSpPr/>
          <p:nvPr/>
        </p:nvSpPr>
        <p:spPr>
          <a:xfrm>
            <a:off x="8851392" y="2441448"/>
            <a:ext cx="960120" cy="228600"/>
          </a:xfrm>
          <a:prstGeom prst="rect">
            <a:avLst/>
          </a:prstGeom>
          <a:solidFill>
            <a:srgbClr val="1E276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Subtotal</a:t>
            </a:r>
            <a:endParaRPr lang="en-US" sz="900" dirty="0"/>
          </a:p>
        </p:txBody>
      </p:sp>
      <p:sp>
        <p:nvSpPr>
          <p:cNvPr id="39" name="Text 37"/>
          <p:cNvSpPr/>
          <p:nvPr/>
        </p:nvSpPr>
        <p:spPr>
          <a:xfrm>
            <a:off x="6976872" y="2697480"/>
            <a:ext cx="1417320" cy="274320"/>
          </a:xfrm>
          <a:prstGeom prst="rect">
            <a:avLst/>
          </a:prstGeom>
          <a:solidFill>
            <a:srgbClr val="FFFFFF"/>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Indomie Goreng</a:t>
            </a:r>
            <a:endParaRPr lang="en-US" sz="900" dirty="0"/>
          </a:p>
        </p:txBody>
      </p:sp>
      <p:sp>
        <p:nvSpPr>
          <p:cNvPr id="40" name="Text 38"/>
          <p:cNvSpPr/>
          <p:nvPr/>
        </p:nvSpPr>
        <p:spPr>
          <a:xfrm>
            <a:off x="8394192" y="2697480"/>
            <a:ext cx="457200" cy="274320"/>
          </a:xfrm>
          <a:prstGeom prst="rect">
            <a:avLst/>
          </a:prstGeom>
          <a:solidFill>
            <a:srgbClr val="FFFFFF"/>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2</a:t>
            </a:r>
            <a:endParaRPr lang="en-US" sz="900" dirty="0"/>
          </a:p>
        </p:txBody>
      </p:sp>
      <p:sp>
        <p:nvSpPr>
          <p:cNvPr id="41" name="Text 39"/>
          <p:cNvSpPr/>
          <p:nvPr/>
        </p:nvSpPr>
        <p:spPr>
          <a:xfrm>
            <a:off x="8851392" y="2697480"/>
            <a:ext cx="960120" cy="274320"/>
          </a:xfrm>
          <a:prstGeom prst="rect">
            <a:avLst/>
          </a:prstGeom>
          <a:solidFill>
            <a:srgbClr val="FFFFFF"/>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Rp 7.000</a:t>
            </a:r>
            <a:endParaRPr lang="en-US" sz="900" dirty="0"/>
          </a:p>
        </p:txBody>
      </p:sp>
      <p:sp>
        <p:nvSpPr>
          <p:cNvPr id="42" name="Text 40"/>
          <p:cNvSpPr/>
          <p:nvPr/>
        </p:nvSpPr>
        <p:spPr>
          <a:xfrm>
            <a:off x="6976872" y="2990088"/>
            <a:ext cx="1417320" cy="274320"/>
          </a:xfrm>
          <a:prstGeom prst="rect">
            <a:avLst/>
          </a:prstGeom>
          <a:solidFill>
            <a:srgbClr val="F4F6FB"/>
          </a:solidFill>
          <a:ln/>
        </p:spPr>
        <p:txBody>
          <a:bodyPr wrap="square" lIns="0" tIns="0" rIns="0" bIns="0" rtlCol="0" anchor="ctr"/>
          <a:lstStyle/>
          <a:p>
            <a:pPr marL="0" indent="0" algn="l">
              <a:buNone/>
            </a:pPr>
            <a:r>
              <a:rPr lang="en-US" sz="900" dirty="0">
                <a:solidFill>
                  <a:srgbClr val="26272B"/>
                </a:solidFill>
                <a:latin typeface="Calibri" pitchFamily="34" charset="0"/>
                <a:ea typeface="Calibri" pitchFamily="34" charset="-122"/>
                <a:cs typeface="Calibri" pitchFamily="34" charset="-120"/>
              </a:rPr>
              <a:t>Aqua 600ml</a:t>
            </a:r>
            <a:endParaRPr lang="en-US" sz="900" dirty="0"/>
          </a:p>
        </p:txBody>
      </p:sp>
      <p:sp>
        <p:nvSpPr>
          <p:cNvPr id="43" name="Text 41"/>
          <p:cNvSpPr/>
          <p:nvPr/>
        </p:nvSpPr>
        <p:spPr>
          <a:xfrm>
            <a:off x="8394192" y="2990088"/>
            <a:ext cx="457200" cy="274320"/>
          </a:xfrm>
          <a:prstGeom prst="rect">
            <a:avLst/>
          </a:prstGeom>
          <a:solidFill>
            <a:srgbClr val="F4F6FB"/>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1</a:t>
            </a:r>
            <a:endParaRPr lang="en-US" sz="900" dirty="0"/>
          </a:p>
        </p:txBody>
      </p:sp>
      <p:sp>
        <p:nvSpPr>
          <p:cNvPr id="44" name="Text 42"/>
          <p:cNvSpPr/>
          <p:nvPr/>
        </p:nvSpPr>
        <p:spPr>
          <a:xfrm>
            <a:off x="8851392" y="2990088"/>
            <a:ext cx="960120" cy="274320"/>
          </a:xfrm>
          <a:prstGeom prst="rect">
            <a:avLst/>
          </a:prstGeom>
          <a:solidFill>
            <a:srgbClr val="F4F6FB"/>
          </a:solidFill>
          <a:ln/>
        </p:spPr>
        <p:txBody>
          <a:bodyPr wrap="square" lIns="0" tIns="0" rIns="0" bIns="0" rtlCol="0" anchor="ctr"/>
          <a:lstStyle/>
          <a:p>
            <a:pPr marL="0" indent="0" algn="r">
              <a:buNone/>
            </a:pPr>
            <a:r>
              <a:rPr lang="en-US" sz="900" dirty="0">
                <a:solidFill>
                  <a:srgbClr val="26272B"/>
                </a:solidFill>
                <a:latin typeface="Calibri" pitchFamily="34" charset="0"/>
                <a:ea typeface="Calibri" pitchFamily="34" charset="-122"/>
                <a:cs typeface="Calibri" pitchFamily="34" charset="-120"/>
              </a:rPr>
              <a:t>Rp 4.000</a:t>
            </a:r>
            <a:endParaRPr lang="en-US" sz="900" dirty="0"/>
          </a:p>
        </p:txBody>
      </p:sp>
      <p:sp>
        <p:nvSpPr>
          <p:cNvPr id="45" name="Text 43"/>
          <p:cNvSpPr/>
          <p:nvPr/>
        </p:nvSpPr>
        <p:spPr>
          <a:xfrm>
            <a:off x="6976872" y="5074920"/>
            <a:ext cx="3950208" cy="320040"/>
          </a:xfrm>
          <a:prstGeom prst="rect">
            <a:avLst/>
          </a:prstGeom>
          <a:noFill/>
          <a:ln/>
        </p:spPr>
        <p:txBody>
          <a:bodyPr wrap="square" lIns="0" tIns="0" rIns="0" bIns="0" rtlCol="0" anchor="ctr"/>
          <a:lstStyle/>
          <a:p>
            <a:pPr marL="0" indent="0" algn="r">
              <a:buNone/>
            </a:pPr>
            <a:r>
              <a:rPr lang="en-US" sz="1400" b="1" dirty="0">
                <a:solidFill>
                  <a:srgbClr val="141B45"/>
                </a:solidFill>
                <a:latin typeface="Cambria" pitchFamily="34" charset="0"/>
                <a:ea typeface="Cambria" pitchFamily="34" charset="-122"/>
                <a:cs typeface="Cambria" pitchFamily="34" charset="-120"/>
              </a:rPr>
              <a:t>Total: Rp 11.000</a:t>
            </a:r>
            <a:endParaRPr lang="en-US" sz="1400" dirty="0"/>
          </a:p>
        </p:txBody>
      </p:sp>
      <p:sp>
        <p:nvSpPr>
          <p:cNvPr id="46" name="Shape 44"/>
          <p:cNvSpPr/>
          <p:nvPr/>
        </p:nvSpPr>
        <p:spPr>
          <a:xfrm>
            <a:off x="9326880" y="5440680"/>
            <a:ext cx="1600200" cy="320040"/>
          </a:xfrm>
          <a:prstGeom prst="roundRect">
            <a:avLst>
              <a:gd name="adj" fmla="val 17143"/>
            </a:avLst>
          </a:prstGeom>
          <a:solidFill>
            <a:srgbClr val="6FA05A"/>
          </a:solidFill>
          <a:ln/>
        </p:spPr>
      </p:sp>
      <p:sp>
        <p:nvSpPr>
          <p:cNvPr id="47" name="Text 45"/>
          <p:cNvSpPr/>
          <p:nvPr/>
        </p:nvSpPr>
        <p:spPr>
          <a:xfrm>
            <a:off x="9326880" y="5440680"/>
            <a:ext cx="1600200" cy="32004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Bayar / Checkout</a:t>
            </a:r>
            <a:endParaRPr lang="en-US" sz="850" dirty="0"/>
          </a:p>
        </p:txBody>
      </p:sp>
      <p:sp>
        <p:nvSpPr>
          <p:cNvPr id="48" name="Text 46"/>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EKSEKUSI PROGRAM</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Contoh Skenario Menjalankan Transaksi</a:t>
            </a:r>
            <a:endParaRPr lang="en-US" sz="2800" dirty="0"/>
          </a:p>
        </p:txBody>
      </p:sp>
      <p:sp>
        <p:nvSpPr>
          <p:cNvPr id="4" name="Text 2"/>
          <p:cNvSpPr/>
          <p:nvPr/>
        </p:nvSpPr>
        <p:spPr>
          <a:xfrm>
            <a:off x="548640" y="1268732"/>
            <a:ext cx="10789920" cy="365760"/>
          </a:xfrm>
          <a:prstGeom prst="rect">
            <a:avLst/>
          </a:prstGeom>
          <a:noFill/>
          <a:ln/>
        </p:spPr>
        <p:txBody>
          <a:bodyPr wrap="square" lIns="0" tIns="0" rIns="0" bIns="0" rtlCol="0" anchor="ctr"/>
          <a:lstStyle/>
          <a:p>
            <a:pPr marL="0" indent="0">
              <a:buNone/>
            </a:pPr>
            <a:r>
              <a:rPr lang="en-US" sz="1300" dirty="0">
                <a:solidFill>
                  <a:srgbClr val="5A6472"/>
                </a:solidFill>
                <a:latin typeface="Calibri" pitchFamily="34" charset="0"/>
                <a:ea typeface="Calibri" pitchFamily="34" charset="-122"/>
                <a:cs typeface="Calibri" pitchFamily="34" charset="-120"/>
              </a:rPr>
              <a:t>Simulasi eksekusi program dari sisi pengguna, sesuai alur logika pada slide sebelumnya:</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861902831"/>
              </p:ext>
            </p:extLst>
          </p:nvPr>
        </p:nvGraphicFramePr>
        <p:xfrm>
          <a:off x="548640" y="1681848"/>
          <a:ext cx="11091672" cy="4663440"/>
        </p:xfrm>
        <a:graphic>
          <a:graphicData uri="http://schemas.openxmlformats.org/drawingml/2006/table">
            <a:tbl>
              <a:tblPr/>
              <a:tblGrid>
                <a:gridCol w="8229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5330952">
                  <a:extLst>
                    <a:ext uri="{9D8B030D-6E8A-4147-A177-3AD203B41FA5}">
                      <a16:colId xmlns:a16="http://schemas.microsoft.com/office/drawing/2014/main" val="20002"/>
                    </a:ext>
                  </a:extLst>
                </a:gridCol>
              </a:tblGrid>
              <a:tr h="77724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Aksi Pengguna</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Hasil pada Program</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lgn="ctr">
                        <a:buNone/>
                      </a:pPr>
                      <a:r>
                        <a:rPr lang="en-US" sz="1150" dirty="0">
                          <a:solidFill>
                            <a:srgbClr val="26272B"/>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Pilih “Indomie Goreng”, qty 2, klik “Tambah ke Keranjang”</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Item masuk keranjang, subtotal Rp 7.000, total otomatis Rp 7.000</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extLst>
                  <a:ext uri="{0D108BD9-81ED-4DB2-BD59-A6C34878D82A}">
                    <a16:rowId xmlns:a16="http://schemas.microsoft.com/office/drawing/2014/main" val="10001"/>
                  </a:ext>
                </a:extLst>
              </a:tr>
              <a:tr h="777240">
                <a:tc>
                  <a:txBody>
                    <a:bodyPr/>
                    <a:lstStyle/>
                    <a:p>
                      <a:pPr marL="0" indent="0" algn="ctr">
                        <a:buNone/>
                      </a:pPr>
                      <a:r>
                        <a:rPr lang="en-US" sz="1150" dirty="0">
                          <a:solidFill>
                            <a:srgbClr val="26272B"/>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Pilih “Aqua Botol 600ml”, qty 1, klik “Tambah ke Keranjang”</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Item kedua masuk keranjang, total otomatis Rp 11.000</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ctr">
                        <a:buNone/>
                      </a:pPr>
                      <a:r>
                        <a:rPr lang="en-US" sz="1150" dirty="0">
                          <a:solidFill>
                            <a:srgbClr val="26272B"/>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Klik tombol “Bayar / Checkout”, masukkan bayar Rp 20.000</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Sistem memvalidasi: Rp 20.000 ≥ Rp 11.000 → disetujui</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extLst>
                  <a:ext uri="{0D108BD9-81ED-4DB2-BD59-A6C34878D82A}">
                    <a16:rowId xmlns:a16="http://schemas.microsoft.com/office/drawing/2014/main" val="10003"/>
                  </a:ext>
                </a:extLst>
              </a:tr>
              <a:tr h="777240">
                <a:tc>
                  <a:txBody>
                    <a:bodyPr/>
                    <a:lstStyle/>
                    <a:p>
                      <a:pPr marL="0" indent="0" algn="ctr">
                        <a:buNone/>
                      </a:pPr>
                      <a:r>
                        <a:rPr lang="en-US" sz="1150" dirty="0">
                          <a:solidFill>
                            <a:srgbClr val="26272B"/>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Sistem memproses pembayaran</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Kembalian Rp 9.000 dihitung, stok Indomie &amp; Aqua berkurang otomatis</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lgn="ctr">
                        <a:buNone/>
                      </a:pPr>
                      <a:r>
                        <a:rPr lang="en-US" sz="1150" dirty="0">
                          <a:solidFill>
                            <a:srgbClr val="26272B"/>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Struk belanja ditampilkan</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tc>
                  <a:txBody>
                    <a:bodyPr/>
                    <a:lstStyle/>
                    <a:p>
                      <a:pPr marL="0" indent="0">
                        <a:buNone/>
                      </a:pPr>
                      <a:r>
                        <a:rPr lang="en-US" sz="1150" dirty="0">
                          <a:solidFill>
                            <a:srgbClr val="26272B"/>
                          </a:solidFill>
                          <a:latin typeface="Calibri" pitchFamily="34" charset="0"/>
                          <a:ea typeface="Calibri" pitchFamily="34" charset="-122"/>
                          <a:cs typeface="Calibri" pitchFamily="34" charset="-120"/>
                        </a:rPr>
                        <a:t>Rincian item, total, bayar, dan kembalian tercetak di layar</a:t>
                      </a:r>
                      <a:endParaRPr lang="en-US" sz="1150" dirty="0">
                        <a:latin typeface="Calibri" charset="0"/>
                        <a:ea typeface="Calibri" charset="0"/>
                        <a:cs typeface="Calibri" charset="0"/>
                      </a:endParaRPr>
                    </a:p>
                  </a:txBody>
                  <a:tcPr anchor="ctr">
                    <a:lnL w="9525" cap="flat" cmpd="sng" algn="ctr">
                      <a:solidFill>
                        <a:srgbClr val="E1E6F0"/>
                      </a:solidFill>
                      <a:prstDash val="solid"/>
                      <a:round/>
                      <a:headEnd type="none" w="med" len="med"/>
                      <a:tailEnd type="none" w="med" len="med"/>
                    </a:lnL>
                    <a:lnR w="9525" cap="flat" cmpd="sng" algn="ctr">
                      <a:solidFill>
                        <a:srgbClr val="E1E6F0"/>
                      </a:solidFill>
                      <a:prstDash val="solid"/>
                      <a:round/>
                      <a:headEnd type="none" w="med" len="med"/>
                      <a:tailEnd type="none" w="med" len="med"/>
                    </a:lnR>
                    <a:lnT w="9525" cap="flat" cmpd="sng" algn="ctr">
                      <a:solidFill>
                        <a:srgbClr val="E1E6F0"/>
                      </a:solidFill>
                      <a:prstDash val="solid"/>
                      <a:round/>
                      <a:headEnd type="none" w="med" len="med"/>
                      <a:tailEnd type="none" w="med" len="med"/>
                    </a:lnT>
                    <a:lnB w="9525" cap="flat" cmpd="sng" algn="ctr">
                      <a:solidFill>
                        <a:srgbClr val="E1E6F0"/>
                      </a:solidFill>
                      <a:prstDash val="solid"/>
                      <a:round/>
                      <a:headEnd type="none" w="med" len="med"/>
                      <a:tailEnd type="none" w="med" len="med"/>
                    </a:lnB>
                    <a:solidFill>
                      <a:srgbClr val="EEF3FD"/>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1E2761"/>
                </a:solidFill>
                <a:latin typeface="Calibri" pitchFamily="34" charset="0"/>
                <a:ea typeface="Calibri" pitchFamily="34" charset="-122"/>
                <a:cs typeface="Calibri" pitchFamily="34" charset="-120"/>
              </a:rPr>
              <a:t>RINGKASAN</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800" b="1" dirty="0">
                <a:solidFill>
                  <a:srgbClr val="141B45"/>
                </a:solidFill>
                <a:latin typeface="Cambria" pitchFamily="34" charset="0"/>
                <a:ea typeface="Cambria" pitchFamily="34" charset="-122"/>
                <a:cs typeface="Cambria" pitchFamily="34" charset="-120"/>
              </a:rPr>
              <a:t>Fitur &amp; Validasi Utama Program</a:t>
            </a:r>
            <a:endParaRPr lang="en-US" sz="2800" dirty="0"/>
          </a:p>
        </p:txBody>
      </p:sp>
      <p:sp>
        <p:nvSpPr>
          <p:cNvPr id="4" name="Shape 2"/>
          <p:cNvSpPr/>
          <p:nvPr/>
        </p:nvSpPr>
        <p:spPr>
          <a:xfrm>
            <a:off x="548640" y="1600200"/>
            <a:ext cx="3520440" cy="1965960"/>
          </a:xfrm>
          <a:prstGeom prst="roundRect">
            <a:avLst>
              <a:gd name="adj" fmla="val 4186"/>
            </a:avLst>
          </a:prstGeom>
          <a:solidFill>
            <a:srgbClr val="EEF3FD"/>
          </a:solidFill>
          <a:ln/>
          <a:effectLst>
            <a:outerShdw blurRad="101600" dist="38100" dir="2700000" algn="bl" rotWithShape="0">
              <a:srgbClr val="000000">
                <a:alpha val="12000"/>
              </a:srgbClr>
            </a:outerShdw>
          </a:effectLst>
        </p:spPr>
      </p:sp>
      <p:sp>
        <p:nvSpPr>
          <p:cNvPr id="5" name="Shape 3"/>
          <p:cNvSpPr/>
          <p:nvPr/>
        </p:nvSpPr>
        <p:spPr>
          <a:xfrm>
            <a:off x="777240" y="1828800"/>
            <a:ext cx="566928" cy="566928"/>
          </a:xfrm>
          <a:prstGeom prst="ellipse">
            <a:avLst/>
          </a:prstGeom>
          <a:solidFill>
            <a:srgbClr val="CADCFC"/>
          </a:solidFill>
          <a:ln/>
        </p:spPr>
      </p:sp>
      <p:pic>
        <p:nvPicPr>
          <p:cNvPr id="6" name="Image 0" descr="preencoded.png"/>
          <p:cNvPicPr>
            <a:picLocks noChangeAspect="1"/>
          </p:cNvPicPr>
          <p:nvPr/>
        </p:nvPicPr>
        <p:blipFill>
          <a:blip r:embed="rId3"/>
          <a:stretch>
            <a:fillRect/>
          </a:stretch>
        </p:blipFill>
        <p:spPr>
          <a:xfrm>
            <a:off x="924641" y="1976201"/>
            <a:ext cx="272125" cy="272125"/>
          </a:xfrm>
          <a:prstGeom prst="rect">
            <a:avLst/>
          </a:prstGeom>
        </p:spPr>
      </p:pic>
      <p:sp>
        <p:nvSpPr>
          <p:cNvPr id="7" name="Text 4"/>
          <p:cNvSpPr/>
          <p:nvPr/>
        </p:nvSpPr>
        <p:spPr>
          <a:xfrm>
            <a:off x="1508760" y="1801368"/>
            <a:ext cx="2377440" cy="365760"/>
          </a:xfrm>
          <a:prstGeom prst="rect">
            <a:avLst/>
          </a:prstGeom>
          <a:noFill/>
          <a:ln/>
        </p:spPr>
        <p:txBody>
          <a:bodyPr wrap="square" lIns="0" tIns="0" rIns="0" bIns="0" rtlCol="0" anchor="ctr"/>
          <a:lstStyle/>
          <a:p>
            <a:pPr marL="0" indent="0">
              <a:buNone/>
            </a:pPr>
            <a:r>
              <a:rPr lang="en-US" sz="1350" b="1" dirty="0">
                <a:solidFill>
                  <a:srgbClr val="141B45"/>
                </a:solidFill>
                <a:latin typeface="Cambria" pitchFamily="34" charset="0"/>
                <a:ea typeface="Cambria" pitchFamily="34" charset="-122"/>
                <a:cs typeface="Cambria" pitchFamily="34" charset="-120"/>
              </a:rPr>
              <a:t>Validasi Stok</a:t>
            </a:r>
            <a:endParaRPr lang="en-US" sz="1350" dirty="0"/>
          </a:p>
        </p:txBody>
      </p:sp>
      <p:sp>
        <p:nvSpPr>
          <p:cNvPr id="8" name="Text 5"/>
          <p:cNvSpPr/>
          <p:nvPr/>
        </p:nvSpPr>
        <p:spPr>
          <a:xfrm>
            <a:off x="777240" y="2514600"/>
            <a:ext cx="3063240" cy="914400"/>
          </a:xfrm>
          <a:prstGeom prst="rect">
            <a:avLst/>
          </a:prstGeom>
          <a:noFill/>
          <a:ln/>
        </p:spPr>
        <p:txBody>
          <a:bodyPr wrap="square" lIns="0" tIns="0" rIns="0" bIns="0" rtlCol="0" anchor="ctr"/>
          <a:lstStyle/>
          <a:p>
            <a:pPr marL="0" indent="0">
              <a:lnSpc>
                <a:spcPts val="1500"/>
              </a:lnSpc>
              <a:buNone/>
            </a:pPr>
            <a:r>
              <a:rPr lang="en-US" sz="1100" dirty="0">
                <a:solidFill>
                  <a:srgbClr val="26272B"/>
                </a:solidFill>
                <a:latin typeface="Calibri" pitchFamily="34" charset="0"/>
                <a:ea typeface="Calibri" pitchFamily="34" charset="-122"/>
                <a:cs typeface="Calibri" pitchFamily="34" charset="-120"/>
              </a:rPr>
              <a:t>Menolak penambahan barang bila jumlah melebihi stok tersedia.</a:t>
            </a:r>
            <a:endParaRPr lang="en-US" sz="1100" dirty="0"/>
          </a:p>
        </p:txBody>
      </p:sp>
      <p:sp>
        <p:nvSpPr>
          <p:cNvPr id="9" name="Shape 6"/>
          <p:cNvSpPr/>
          <p:nvPr/>
        </p:nvSpPr>
        <p:spPr>
          <a:xfrm>
            <a:off x="4343400" y="1600200"/>
            <a:ext cx="3520440" cy="1965960"/>
          </a:xfrm>
          <a:prstGeom prst="roundRect">
            <a:avLst>
              <a:gd name="adj" fmla="val 4186"/>
            </a:avLst>
          </a:prstGeom>
          <a:solidFill>
            <a:srgbClr val="EEF3FD"/>
          </a:solidFill>
          <a:ln/>
          <a:effectLst>
            <a:outerShdw blurRad="101600" dist="38100" dir="2700000" algn="bl" rotWithShape="0">
              <a:srgbClr val="000000">
                <a:alpha val="12000"/>
              </a:srgbClr>
            </a:outerShdw>
          </a:effectLst>
        </p:spPr>
      </p:sp>
      <p:sp>
        <p:nvSpPr>
          <p:cNvPr id="10" name="Shape 7"/>
          <p:cNvSpPr/>
          <p:nvPr/>
        </p:nvSpPr>
        <p:spPr>
          <a:xfrm>
            <a:off x="4572000" y="1828800"/>
            <a:ext cx="566928" cy="566928"/>
          </a:xfrm>
          <a:prstGeom prst="ellipse">
            <a:avLst/>
          </a:prstGeom>
          <a:solidFill>
            <a:srgbClr val="CADCFC"/>
          </a:solidFill>
          <a:ln/>
        </p:spPr>
      </p:sp>
      <p:pic>
        <p:nvPicPr>
          <p:cNvPr id="11" name="Image 1" descr="preencoded.png"/>
          <p:cNvPicPr>
            <a:picLocks noChangeAspect="1"/>
          </p:cNvPicPr>
          <p:nvPr/>
        </p:nvPicPr>
        <p:blipFill>
          <a:blip r:embed="rId4"/>
          <a:stretch>
            <a:fillRect/>
          </a:stretch>
        </p:blipFill>
        <p:spPr>
          <a:xfrm>
            <a:off x="4719401" y="1976201"/>
            <a:ext cx="272125" cy="272125"/>
          </a:xfrm>
          <a:prstGeom prst="rect">
            <a:avLst/>
          </a:prstGeom>
        </p:spPr>
      </p:pic>
      <p:sp>
        <p:nvSpPr>
          <p:cNvPr id="12" name="Text 8"/>
          <p:cNvSpPr/>
          <p:nvPr/>
        </p:nvSpPr>
        <p:spPr>
          <a:xfrm>
            <a:off x="5303520" y="1801368"/>
            <a:ext cx="2377440" cy="365760"/>
          </a:xfrm>
          <a:prstGeom prst="rect">
            <a:avLst/>
          </a:prstGeom>
          <a:noFill/>
          <a:ln/>
        </p:spPr>
        <p:txBody>
          <a:bodyPr wrap="square" lIns="0" tIns="0" rIns="0" bIns="0" rtlCol="0" anchor="ctr"/>
          <a:lstStyle/>
          <a:p>
            <a:pPr marL="0" indent="0">
              <a:buNone/>
            </a:pPr>
            <a:r>
              <a:rPr lang="en-US" sz="1350" b="1" dirty="0">
                <a:solidFill>
                  <a:srgbClr val="141B45"/>
                </a:solidFill>
                <a:latin typeface="Cambria" pitchFamily="34" charset="0"/>
                <a:ea typeface="Cambria" pitchFamily="34" charset="-122"/>
                <a:cs typeface="Cambria" pitchFamily="34" charset="-120"/>
              </a:rPr>
              <a:t>Hitung Total Otomatis</a:t>
            </a:r>
            <a:endParaRPr lang="en-US" sz="1350" dirty="0"/>
          </a:p>
        </p:txBody>
      </p:sp>
      <p:sp>
        <p:nvSpPr>
          <p:cNvPr id="13" name="Text 9"/>
          <p:cNvSpPr/>
          <p:nvPr/>
        </p:nvSpPr>
        <p:spPr>
          <a:xfrm>
            <a:off x="4572000" y="2514600"/>
            <a:ext cx="3063240" cy="914400"/>
          </a:xfrm>
          <a:prstGeom prst="rect">
            <a:avLst/>
          </a:prstGeom>
          <a:noFill/>
          <a:ln/>
        </p:spPr>
        <p:txBody>
          <a:bodyPr wrap="square" lIns="0" tIns="0" rIns="0" bIns="0" rtlCol="0" anchor="ctr"/>
          <a:lstStyle/>
          <a:p>
            <a:pPr marL="0" indent="0">
              <a:lnSpc>
                <a:spcPts val="1500"/>
              </a:lnSpc>
              <a:buNone/>
            </a:pPr>
            <a:r>
              <a:rPr lang="en-US" sz="1100" dirty="0">
                <a:solidFill>
                  <a:srgbClr val="26272B"/>
                </a:solidFill>
                <a:latin typeface="Calibri" pitchFamily="34" charset="0"/>
                <a:ea typeface="Calibri" pitchFamily="34" charset="-122"/>
                <a:cs typeface="Calibri" pitchFamily="34" charset="-120"/>
              </a:rPr>
              <a:t>Total belanja diperbarui setiap keranjang berubah.</a:t>
            </a:r>
            <a:endParaRPr lang="en-US" sz="1100" dirty="0"/>
          </a:p>
        </p:txBody>
      </p:sp>
      <p:sp>
        <p:nvSpPr>
          <p:cNvPr id="14" name="Shape 10"/>
          <p:cNvSpPr/>
          <p:nvPr/>
        </p:nvSpPr>
        <p:spPr>
          <a:xfrm>
            <a:off x="8138160" y="1600200"/>
            <a:ext cx="3520440" cy="1965960"/>
          </a:xfrm>
          <a:prstGeom prst="roundRect">
            <a:avLst>
              <a:gd name="adj" fmla="val 4186"/>
            </a:avLst>
          </a:prstGeom>
          <a:solidFill>
            <a:srgbClr val="EEF3FD"/>
          </a:solidFill>
          <a:ln/>
          <a:effectLst>
            <a:outerShdw blurRad="101600" dist="38100" dir="2700000" algn="bl" rotWithShape="0">
              <a:srgbClr val="000000">
                <a:alpha val="12000"/>
              </a:srgbClr>
            </a:outerShdw>
          </a:effectLst>
        </p:spPr>
      </p:sp>
      <p:sp>
        <p:nvSpPr>
          <p:cNvPr id="15" name="Shape 11"/>
          <p:cNvSpPr/>
          <p:nvPr/>
        </p:nvSpPr>
        <p:spPr>
          <a:xfrm>
            <a:off x="8366760" y="1828800"/>
            <a:ext cx="566928" cy="566928"/>
          </a:xfrm>
          <a:prstGeom prst="ellipse">
            <a:avLst/>
          </a:prstGeom>
          <a:solidFill>
            <a:srgbClr val="CADCFC"/>
          </a:solidFill>
          <a:ln/>
        </p:spPr>
      </p:sp>
      <p:pic>
        <p:nvPicPr>
          <p:cNvPr id="16" name="Image 2" descr="preencoded.png"/>
          <p:cNvPicPr>
            <a:picLocks noChangeAspect="1"/>
          </p:cNvPicPr>
          <p:nvPr/>
        </p:nvPicPr>
        <p:blipFill>
          <a:blip r:embed="rId5"/>
          <a:stretch>
            <a:fillRect/>
          </a:stretch>
        </p:blipFill>
        <p:spPr>
          <a:xfrm>
            <a:off x="8514161" y="1976201"/>
            <a:ext cx="272125" cy="272125"/>
          </a:xfrm>
          <a:prstGeom prst="rect">
            <a:avLst/>
          </a:prstGeom>
        </p:spPr>
      </p:pic>
      <p:sp>
        <p:nvSpPr>
          <p:cNvPr id="17" name="Text 12"/>
          <p:cNvSpPr/>
          <p:nvPr/>
        </p:nvSpPr>
        <p:spPr>
          <a:xfrm>
            <a:off x="9098280" y="1801368"/>
            <a:ext cx="2377440" cy="365760"/>
          </a:xfrm>
          <a:prstGeom prst="rect">
            <a:avLst/>
          </a:prstGeom>
          <a:noFill/>
          <a:ln/>
        </p:spPr>
        <p:txBody>
          <a:bodyPr wrap="square" lIns="0" tIns="0" rIns="0" bIns="0" rtlCol="0" anchor="ctr"/>
          <a:lstStyle/>
          <a:p>
            <a:pPr marL="0" indent="0">
              <a:buNone/>
            </a:pPr>
            <a:r>
              <a:rPr lang="en-US" sz="1350" b="1" dirty="0">
                <a:solidFill>
                  <a:srgbClr val="141B45"/>
                </a:solidFill>
                <a:latin typeface="Cambria" pitchFamily="34" charset="0"/>
                <a:ea typeface="Cambria" pitchFamily="34" charset="-122"/>
                <a:cs typeface="Cambria" pitchFamily="34" charset="-120"/>
              </a:rPr>
              <a:t>Validasi Pembayaran</a:t>
            </a:r>
            <a:endParaRPr lang="en-US" sz="1350" dirty="0"/>
          </a:p>
        </p:txBody>
      </p:sp>
      <p:sp>
        <p:nvSpPr>
          <p:cNvPr id="18" name="Text 13"/>
          <p:cNvSpPr/>
          <p:nvPr/>
        </p:nvSpPr>
        <p:spPr>
          <a:xfrm>
            <a:off x="8366760" y="2514600"/>
            <a:ext cx="3063240" cy="914400"/>
          </a:xfrm>
          <a:prstGeom prst="rect">
            <a:avLst/>
          </a:prstGeom>
          <a:noFill/>
          <a:ln/>
        </p:spPr>
        <p:txBody>
          <a:bodyPr wrap="square" lIns="0" tIns="0" rIns="0" bIns="0" rtlCol="0" anchor="ctr"/>
          <a:lstStyle/>
          <a:p>
            <a:pPr marL="0" indent="0">
              <a:lnSpc>
                <a:spcPts val="1500"/>
              </a:lnSpc>
              <a:buNone/>
            </a:pPr>
            <a:r>
              <a:rPr lang="en-US" sz="1100" dirty="0">
                <a:solidFill>
                  <a:srgbClr val="26272B"/>
                </a:solidFill>
                <a:latin typeface="Calibri" pitchFamily="34" charset="0"/>
                <a:ea typeface="Calibri" pitchFamily="34" charset="-122"/>
                <a:cs typeface="Calibri" pitchFamily="34" charset="-120"/>
              </a:rPr>
              <a:t>Menolak checkout bila uang bayar kurang dari total.</a:t>
            </a:r>
            <a:endParaRPr lang="en-US" sz="1100" dirty="0"/>
          </a:p>
        </p:txBody>
      </p:sp>
      <p:sp>
        <p:nvSpPr>
          <p:cNvPr id="19" name="Shape 14"/>
          <p:cNvSpPr/>
          <p:nvPr/>
        </p:nvSpPr>
        <p:spPr>
          <a:xfrm>
            <a:off x="548640" y="3840480"/>
            <a:ext cx="3520440" cy="1965960"/>
          </a:xfrm>
          <a:prstGeom prst="roundRect">
            <a:avLst>
              <a:gd name="adj" fmla="val 4186"/>
            </a:avLst>
          </a:prstGeom>
          <a:solidFill>
            <a:srgbClr val="EEF3FD"/>
          </a:solidFill>
          <a:ln/>
          <a:effectLst>
            <a:outerShdw blurRad="101600" dist="38100" dir="2700000" algn="bl" rotWithShape="0">
              <a:srgbClr val="000000">
                <a:alpha val="12000"/>
              </a:srgbClr>
            </a:outerShdw>
          </a:effectLst>
        </p:spPr>
      </p:sp>
      <p:sp>
        <p:nvSpPr>
          <p:cNvPr id="20" name="Shape 15"/>
          <p:cNvSpPr/>
          <p:nvPr/>
        </p:nvSpPr>
        <p:spPr>
          <a:xfrm>
            <a:off x="777240" y="4069080"/>
            <a:ext cx="566928" cy="566928"/>
          </a:xfrm>
          <a:prstGeom prst="ellipse">
            <a:avLst/>
          </a:prstGeom>
          <a:solidFill>
            <a:srgbClr val="CADCFC"/>
          </a:solidFill>
          <a:ln/>
        </p:spPr>
      </p:sp>
      <p:pic>
        <p:nvPicPr>
          <p:cNvPr id="21" name="Image 3" descr="preencoded.png"/>
          <p:cNvPicPr>
            <a:picLocks noChangeAspect="1"/>
          </p:cNvPicPr>
          <p:nvPr/>
        </p:nvPicPr>
        <p:blipFill>
          <a:blip r:embed="rId6"/>
          <a:stretch>
            <a:fillRect/>
          </a:stretch>
        </p:blipFill>
        <p:spPr>
          <a:xfrm>
            <a:off x="924641" y="4216481"/>
            <a:ext cx="272125" cy="272125"/>
          </a:xfrm>
          <a:prstGeom prst="rect">
            <a:avLst/>
          </a:prstGeom>
        </p:spPr>
      </p:pic>
      <p:sp>
        <p:nvSpPr>
          <p:cNvPr id="22" name="Text 16"/>
          <p:cNvSpPr/>
          <p:nvPr/>
        </p:nvSpPr>
        <p:spPr>
          <a:xfrm>
            <a:off x="1508760" y="4041648"/>
            <a:ext cx="2377440" cy="365760"/>
          </a:xfrm>
          <a:prstGeom prst="rect">
            <a:avLst/>
          </a:prstGeom>
          <a:noFill/>
          <a:ln/>
        </p:spPr>
        <p:txBody>
          <a:bodyPr wrap="square" lIns="0" tIns="0" rIns="0" bIns="0" rtlCol="0" anchor="ctr"/>
          <a:lstStyle/>
          <a:p>
            <a:pPr marL="0" indent="0">
              <a:buNone/>
            </a:pPr>
            <a:r>
              <a:rPr lang="en-US" sz="1350" b="1" dirty="0">
                <a:solidFill>
                  <a:srgbClr val="141B45"/>
                </a:solidFill>
                <a:latin typeface="Cambria" pitchFamily="34" charset="0"/>
                <a:ea typeface="Cambria" pitchFamily="34" charset="-122"/>
                <a:cs typeface="Cambria" pitchFamily="34" charset="-120"/>
              </a:rPr>
              <a:t>Hitung Kembalian</a:t>
            </a:r>
            <a:endParaRPr lang="en-US" sz="1350" dirty="0"/>
          </a:p>
        </p:txBody>
      </p:sp>
      <p:sp>
        <p:nvSpPr>
          <p:cNvPr id="23" name="Text 17"/>
          <p:cNvSpPr/>
          <p:nvPr/>
        </p:nvSpPr>
        <p:spPr>
          <a:xfrm>
            <a:off x="777240" y="4754880"/>
            <a:ext cx="3063240" cy="914400"/>
          </a:xfrm>
          <a:prstGeom prst="rect">
            <a:avLst/>
          </a:prstGeom>
          <a:noFill/>
          <a:ln/>
        </p:spPr>
        <p:txBody>
          <a:bodyPr wrap="square" lIns="0" tIns="0" rIns="0" bIns="0" rtlCol="0" anchor="ctr"/>
          <a:lstStyle/>
          <a:p>
            <a:pPr marL="0" indent="0">
              <a:lnSpc>
                <a:spcPts val="1500"/>
              </a:lnSpc>
              <a:buNone/>
            </a:pPr>
            <a:r>
              <a:rPr lang="en-US" sz="1100" dirty="0">
                <a:solidFill>
                  <a:srgbClr val="26272B"/>
                </a:solidFill>
                <a:latin typeface="Calibri" pitchFamily="34" charset="0"/>
                <a:ea typeface="Calibri" pitchFamily="34" charset="-122"/>
                <a:cs typeface="Calibri" pitchFamily="34" charset="-120"/>
              </a:rPr>
              <a:t>Kembalian dihitung otomatis: uang bayar – total belanja.</a:t>
            </a:r>
            <a:endParaRPr lang="en-US" sz="1100" dirty="0"/>
          </a:p>
        </p:txBody>
      </p:sp>
      <p:sp>
        <p:nvSpPr>
          <p:cNvPr id="24" name="Shape 18"/>
          <p:cNvSpPr/>
          <p:nvPr/>
        </p:nvSpPr>
        <p:spPr>
          <a:xfrm>
            <a:off x="4343400" y="3840480"/>
            <a:ext cx="3520440" cy="1965960"/>
          </a:xfrm>
          <a:prstGeom prst="roundRect">
            <a:avLst>
              <a:gd name="adj" fmla="val 4186"/>
            </a:avLst>
          </a:prstGeom>
          <a:solidFill>
            <a:srgbClr val="EEF3FD"/>
          </a:solidFill>
          <a:ln/>
          <a:effectLst>
            <a:outerShdw blurRad="101600" dist="38100" dir="2700000" algn="bl" rotWithShape="0">
              <a:srgbClr val="000000">
                <a:alpha val="12000"/>
              </a:srgbClr>
            </a:outerShdw>
          </a:effectLst>
        </p:spPr>
      </p:sp>
      <p:sp>
        <p:nvSpPr>
          <p:cNvPr id="25" name="Shape 19"/>
          <p:cNvSpPr/>
          <p:nvPr/>
        </p:nvSpPr>
        <p:spPr>
          <a:xfrm>
            <a:off x="4572000" y="4069080"/>
            <a:ext cx="566928" cy="566928"/>
          </a:xfrm>
          <a:prstGeom prst="ellipse">
            <a:avLst/>
          </a:prstGeom>
          <a:solidFill>
            <a:srgbClr val="CADCFC"/>
          </a:solidFill>
          <a:ln/>
        </p:spPr>
      </p:sp>
      <p:pic>
        <p:nvPicPr>
          <p:cNvPr id="26" name="Image 4" descr="preencoded.png"/>
          <p:cNvPicPr>
            <a:picLocks noChangeAspect="1"/>
          </p:cNvPicPr>
          <p:nvPr/>
        </p:nvPicPr>
        <p:blipFill>
          <a:blip r:embed="rId7"/>
          <a:stretch>
            <a:fillRect/>
          </a:stretch>
        </p:blipFill>
        <p:spPr>
          <a:xfrm>
            <a:off x="4719401" y="4216481"/>
            <a:ext cx="272125" cy="272125"/>
          </a:xfrm>
          <a:prstGeom prst="rect">
            <a:avLst/>
          </a:prstGeom>
        </p:spPr>
      </p:pic>
      <p:sp>
        <p:nvSpPr>
          <p:cNvPr id="27" name="Text 20"/>
          <p:cNvSpPr/>
          <p:nvPr/>
        </p:nvSpPr>
        <p:spPr>
          <a:xfrm>
            <a:off x="5303520" y="4041648"/>
            <a:ext cx="2377440" cy="365760"/>
          </a:xfrm>
          <a:prstGeom prst="rect">
            <a:avLst/>
          </a:prstGeom>
          <a:noFill/>
          <a:ln/>
        </p:spPr>
        <p:txBody>
          <a:bodyPr wrap="square" lIns="0" tIns="0" rIns="0" bIns="0" rtlCol="0" anchor="ctr"/>
          <a:lstStyle/>
          <a:p>
            <a:pPr marL="0" indent="0">
              <a:buNone/>
            </a:pPr>
            <a:r>
              <a:rPr lang="en-US" sz="1350" b="1" dirty="0">
                <a:solidFill>
                  <a:srgbClr val="141B45"/>
                </a:solidFill>
                <a:latin typeface="Cambria" pitchFamily="34" charset="0"/>
                <a:ea typeface="Cambria" pitchFamily="34" charset="-122"/>
                <a:cs typeface="Cambria" pitchFamily="34" charset="-120"/>
              </a:rPr>
              <a:t>Cetak Struk Otomatis</a:t>
            </a:r>
            <a:endParaRPr lang="en-US" sz="1350" dirty="0"/>
          </a:p>
        </p:txBody>
      </p:sp>
      <p:sp>
        <p:nvSpPr>
          <p:cNvPr id="28" name="Text 21"/>
          <p:cNvSpPr/>
          <p:nvPr/>
        </p:nvSpPr>
        <p:spPr>
          <a:xfrm>
            <a:off x="4572000" y="4754880"/>
            <a:ext cx="3063240" cy="914400"/>
          </a:xfrm>
          <a:prstGeom prst="rect">
            <a:avLst/>
          </a:prstGeom>
          <a:noFill/>
          <a:ln/>
        </p:spPr>
        <p:txBody>
          <a:bodyPr wrap="square" lIns="0" tIns="0" rIns="0" bIns="0" rtlCol="0" anchor="ctr"/>
          <a:lstStyle/>
          <a:p>
            <a:pPr marL="0" indent="0">
              <a:lnSpc>
                <a:spcPts val="1500"/>
              </a:lnSpc>
              <a:buNone/>
            </a:pPr>
            <a:r>
              <a:rPr lang="en-US" sz="1100" dirty="0">
                <a:solidFill>
                  <a:srgbClr val="26272B"/>
                </a:solidFill>
                <a:latin typeface="Calibri" pitchFamily="34" charset="0"/>
                <a:ea typeface="Calibri" pitchFamily="34" charset="-122"/>
                <a:cs typeface="Calibri" pitchFamily="34" charset="-120"/>
              </a:rPr>
              <a:t>Struk belanja ditampilkan setelah transaksi berhasil.</a:t>
            </a:r>
            <a:endParaRPr lang="en-US" sz="1100" dirty="0"/>
          </a:p>
        </p:txBody>
      </p:sp>
      <p:sp>
        <p:nvSpPr>
          <p:cNvPr id="29" name="Shape 22"/>
          <p:cNvSpPr/>
          <p:nvPr/>
        </p:nvSpPr>
        <p:spPr>
          <a:xfrm>
            <a:off x="8138160" y="3840480"/>
            <a:ext cx="3520440" cy="1965960"/>
          </a:xfrm>
          <a:prstGeom prst="roundRect">
            <a:avLst>
              <a:gd name="adj" fmla="val 4186"/>
            </a:avLst>
          </a:prstGeom>
          <a:solidFill>
            <a:srgbClr val="EEF3FD"/>
          </a:solidFill>
          <a:ln/>
          <a:effectLst>
            <a:outerShdw blurRad="101600" dist="38100" dir="2700000" algn="bl" rotWithShape="0">
              <a:srgbClr val="000000">
                <a:alpha val="12000"/>
              </a:srgbClr>
            </a:outerShdw>
          </a:effectLst>
        </p:spPr>
      </p:sp>
      <p:sp>
        <p:nvSpPr>
          <p:cNvPr id="30" name="Shape 23"/>
          <p:cNvSpPr/>
          <p:nvPr/>
        </p:nvSpPr>
        <p:spPr>
          <a:xfrm>
            <a:off x="8366760" y="4069080"/>
            <a:ext cx="566928" cy="566928"/>
          </a:xfrm>
          <a:prstGeom prst="ellipse">
            <a:avLst/>
          </a:prstGeom>
          <a:solidFill>
            <a:srgbClr val="CADCFC"/>
          </a:solidFill>
          <a:ln/>
        </p:spPr>
      </p:sp>
      <p:pic>
        <p:nvPicPr>
          <p:cNvPr id="31" name="Image 5" descr="preencoded.png"/>
          <p:cNvPicPr>
            <a:picLocks noChangeAspect="1"/>
          </p:cNvPicPr>
          <p:nvPr/>
        </p:nvPicPr>
        <p:blipFill>
          <a:blip r:embed="rId8"/>
          <a:stretch>
            <a:fillRect/>
          </a:stretch>
        </p:blipFill>
        <p:spPr>
          <a:xfrm>
            <a:off x="8514161" y="4216481"/>
            <a:ext cx="272125" cy="272125"/>
          </a:xfrm>
          <a:prstGeom prst="rect">
            <a:avLst/>
          </a:prstGeom>
        </p:spPr>
      </p:pic>
      <p:sp>
        <p:nvSpPr>
          <p:cNvPr id="32" name="Text 24"/>
          <p:cNvSpPr/>
          <p:nvPr/>
        </p:nvSpPr>
        <p:spPr>
          <a:xfrm>
            <a:off x="9098280" y="4041648"/>
            <a:ext cx="2377440" cy="365760"/>
          </a:xfrm>
          <a:prstGeom prst="rect">
            <a:avLst/>
          </a:prstGeom>
          <a:noFill/>
          <a:ln/>
        </p:spPr>
        <p:txBody>
          <a:bodyPr wrap="square" lIns="0" tIns="0" rIns="0" bIns="0" rtlCol="0" anchor="ctr"/>
          <a:lstStyle/>
          <a:p>
            <a:pPr marL="0" indent="0">
              <a:buNone/>
            </a:pPr>
            <a:r>
              <a:rPr lang="en-US" sz="1350" b="1" dirty="0">
                <a:solidFill>
                  <a:srgbClr val="141B45"/>
                </a:solidFill>
                <a:latin typeface="Cambria" pitchFamily="34" charset="0"/>
                <a:ea typeface="Cambria" pitchFamily="34" charset="-122"/>
                <a:cs typeface="Cambria" pitchFamily="34" charset="-120"/>
              </a:rPr>
              <a:t>Update Stok Real-time</a:t>
            </a:r>
            <a:endParaRPr lang="en-US" sz="1350" dirty="0"/>
          </a:p>
        </p:txBody>
      </p:sp>
      <p:sp>
        <p:nvSpPr>
          <p:cNvPr id="33" name="Text 25"/>
          <p:cNvSpPr/>
          <p:nvPr/>
        </p:nvSpPr>
        <p:spPr>
          <a:xfrm>
            <a:off x="8366760" y="4754880"/>
            <a:ext cx="3063240" cy="914400"/>
          </a:xfrm>
          <a:prstGeom prst="rect">
            <a:avLst/>
          </a:prstGeom>
          <a:noFill/>
          <a:ln/>
        </p:spPr>
        <p:txBody>
          <a:bodyPr wrap="square" lIns="0" tIns="0" rIns="0" bIns="0" rtlCol="0" anchor="ctr"/>
          <a:lstStyle/>
          <a:p>
            <a:pPr marL="0" indent="0">
              <a:lnSpc>
                <a:spcPts val="1500"/>
              </a:lnSpc>
              <a:buNone/>
            </a:pPr>
            <a:r>
              <a:rPr lang="en-US" sz="1100" dirty="0">
                <a:solidFill>
                  <a:srgbClr val="26272B"/>
                </a:solidFill>
                <a:latin typeface="Calibri" pitchFamily="34" charset="0"/>
                <a:ea typeface="Calibri" pitchFamily="34" charset="-122"/>
                <a:cs typeface="Calibri" pitchFamily="34" charset="-120"/>
              </a:rPr>
              <a:t>Stok produk berkurang otomatis sesuai barang terjual.</a:t>
            </a:r>
            <a:endParaRPr lang="en-US" sz="1100" dirty="0"/>
          </a:p>
        </p:txBody>
      </p:sp>
      <p:sp>
        <p:nvSpPr>
          <p:cNvPr id="34" name="Text 26"/>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00" b="1" kern="0" spc="150" dirty="0">
                <a:solidFill>
                  <a:srgbClr val="CADCFC"/>
                </a:solidFill>
                <a:latin typeface="Calibri" pitchFamily="34" charset="0"/>
                <a:ea typeface="Calibri" pitchFamily="34" charset="-122"/>
                <a:cs typeface="Calibri" pitchFamily="34" charset="-120"/>
              </a:rPr>
              <a:t>EKSEKUSI PROGRAM</a:t>
            </a:r>
            <a:endParaRPr lang="en-US" sz="1200" dirty="0"/>
          </a:p>
        </p:txBody>
      </p:sp>
      <p:sp>
        <p:nvSpPr>
          <p:cNvPr id="3" name="Text 1"/>
          <p:cNvSpPr/>
          <p:nvPr/>
        </p:nvSpPr>
        <p:spPr>
          <a:xfrm>
            <a:off x="548640" y="658368"/>
            <a:ext cx="10789920" cy="59436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Cara Menjalankan Program di NetBeans (Live Demo)</a:t>
            </a:r>
            <a:endParaRPr lang="en-US" sz="2700" dirty="0"/>
          </a:p>
        </p:txBody>
      </p:sp>
      <p:sp>
        <p:nvSpPr>
          <p:cNvPr id="4" name="Shape 2"/>
          <p:cNvSpPr/>
          <p:nvPr/>
        </p:nvSpPr>
        <p:spPr>
          <a:xfrm>
            <a:off x="1508760" y="3749040"/>
            <a:ext cx="9171432" cy="0"/>
          </a:xfrm>
          <a:prstGeom prst="line">
            <a:avLst/>
          </a:prstGeom>
          <a:noFill/>
          <a:ln w="25400">
            <a:solidFill>
              <a:srgbClr val="3A468A"/>
            </a:solidFill>
            <a:prstDash val="dash"/>
          </a:ln>
        </p:spPr>
      </p:sp>
      <p:sp>
        <p:nvSpPr>
          <p:cNvPr id="5" name="Shape 3"/>
          <p:cNvSpPr/>
          <p:nvPr/>
        </p:nvSpPr>
        <p:spPr>
          <a:xfrm>
            <a:off x="1051560" y="3291840"/>
            <a:ext cx="914400" cy="914400"/>
          </a:xfrm>
          <a:prstGeom prst="ellipse">
            <a:avLst/>
          </a:prstGeom>
          <a:solidFill>
            <a:srgbClr val="141B45"/>
          </a:solidFill>
          <a:ln/>
        </p:spPr>
      </p:sp>
      <p:pic>
        <p:nvPicPr>
          <p:cNvPr id="6"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1289304" y="3529584"/>
            <a:ext cx="438912" cy="438912"/>
          </a:xfrm>
          <a:prstGeom prst="rect">
            <a:avLst/>
          </a:prstGeom>
        </p:spPr>
      </p:pic>
      <p:sp>
        <p:nvSpPr>
          <p:cNvPr id="7" name="Text 4"/>
          <p:cNvSpPr/>
          <p:nvPr/>
        </p:nvSpPr>
        <p:spPr>
          <a:xfrm>
            <a:off x="594360" y="4343400"/>
            <a:ext cx="182880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Buat Project</a:t>
            </a:r>
            <a:endParaRPr lang="en-US" sz="1250" dirty="0"/>
          </a:p>
        </p:txBody>
      </p:sp>
      <p:sp>
        <p:nvSpPr>
          <p:cNvPr id="8" name="Text 5"/>
          <p:cNvSpPr/>
          <p:nvPr/>
        </p:nvSpPr>
        <p:spPr>
          <a:xfrm>
            <a:off x="594360" y="4709160"/>
            <a:ext cx="1828800" cy="640080"/>
          </a:xfrm>
          <a:prstGeom prst="rect">
            <a:avLst/>
          </a:prstGeom>
          <a:noFill/>
          <a:ln/>
        </p:spPr>
        <p:txBody>
          <a:bodyPr wrap="square" lIns="0" tIns="0" rIns="0" bIns="0" rtlCol="0" anchor="ctr"/>
          <a:lstStyle/>
          <a:p>
            <a:pPr marL="0" indent="0" algn="ctr">
              <a:lnSpc>
                <a:spcPts val="1200"/>
              </a:lnSpc>
              <a:buNone/>
            </a:pPr>
            <a:r>
              <a:rPr lang="en-US" sz="950" dirty="0">
                <a:solidFill>
                  <a:srgbClr val="C7D2EF"/>
                </a:solidFill>
                <a:latin typeface="Calibri" pitchFamily="34" charset="0"/>
                <a:ea typeface="Calibri" pitchFamily="34" charset="-122"/>
                <a:cs typeface="Calibri" pitchFamily="34" charset="-120"/>
              </a:rPr>
              <a:t>Java Application baru di NetBeans</a:t>
            </a:r>
            <a:endParaRPr lang="en-US" sz="950" dirty="0"/>
          </a:p>
        </p:txBody>
      </p:sp>
      <p:sp>
        <p:nvSpPr>
          <p:cNvPr id="9" name="Shape 6"/>
          <p:cNvSpPr/>
          <p:nvPr/>
        </p:nvSpPr>
        <p:spPr>
          <a:xfrm>
            <a:off x="3344418" y="3291840"/>
            <a:ext cx="914400" cy="914400"/>
          </a:xfrm>
          <a:prstGeom prst="ellipse">
            <a:avLst/>
          </a:prstGeom>
          <a:solidFill>
            <a:srgbClr val="141B45"/>
          </a:solidFill>
          <a:ln/>
        </p:spPr>
      </p:sp>
      <p:pic>
        <p:nvPicPr>
          <p:cNvPr id="10"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3582162" y="3529584"/>
            <a:ext cx="438912" cy="438912"/>
          </a:xfrm>
          <a:prstGeom prst="rect">
            <a:avLst/>
          </a:prstGeom>
        </p:spPr>
      </p:pic>
      <p:sp>
        <p:nvSpPr>
          <p:cNvPr id="11" name="Text 7"/>
          <p:cNvSpPr/>
          <p:nvPr/>
        </p:nvSpPr>
        <p:spPr>
          <a:xfrm>
            <a:off x="2887218" y="4343400"/>
            <a:ext cx="182880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Tambah Package</a:t>
            </a:r>
            <a:endParaRPr lang="en-US" sz="1250" dirty="0"/>
          </a:p>
        </p:txBody>
      </p:sp>
      <p:sp>
        <p:nvSpPr>
          <p:cNvPr id="12" name="Text 8"/>
          <p:cNvSpPr/>
          <p:nvPr/>
        </p:nvSpPr>
        <p:spPr>
          <a:xfrm>
            <a:off x="2887218" y="4709160"/>
            <a:ext cx="1828800" cy="640080"/>
          </a:xfrm>
          <a:prstGeom prst="rect">
            <a:avLst/>
          </a:prstGeom>
          <a:noFill/>
          <a:ln/>
        </p:spPr>
        <p:txBody>
          <a:bodyPr wrap="square" lIns="0" tIns="0" rIns="0" bIns="0" rtlCol="0" anchor="ctr"/>
          <a:lstStyle/>
          <a:p>
            <a:pPr marL="0" indent="0" algn="ctr">
              <a:lnSpc>
                <a:spcPts val="1200"/>
              </a:lnSpc>
              <a:buNone/>
            </a:pPr>
            <a:r>
              <a:rPr lang="en-US" sz="950" dirty="0">
                <a:solidFill>
                  <a:srgbClr val="C7D2EF"/>
                </a:solidFill>
                <a:latin typeface="Calibri" pitchFamily="34" charset="0"/>
                <a:ea typeface="Calibri" pitchFamily="34" charset="-122"/>
                <a:cs typeface="Calibri" pitchFamily="34" charset="-120"/>
              </a:rPr>
              <a:t>Buat package “kasir” &amp; salin file .java</a:t>
            </a:r>
            <a:endParaRPr lang="en-US" sz="950" dirty="0"/>
          </a:p>
        </p:txBody>
      </p:sp>
      <p:sp>
        <p:nvSpPr>
          <p:cNvPr id="13" name="Shape 9"/>
          <p:cNvSpPr/>
          <p:nvPr/>
        </p:nvSpPr>
        <p:spPr>
          <a:xfrm>
            <a:off x="5637276" y="3291840"/>
            <a:ext cx="914400" cy="914400"/>
          </a:xfrm>
          <a:prstGeom prst="ellipse">
            <a:avLst/>
          </a:prstGeom>
          <a:solidFill>
            <a:srgbClr val="141B45"/>
          </a:solidFill>
          <a:ln/>
        </p:spPr>
      </p:sp>
      <p:pic>
        <p:nvPicPr>
          <p:cNvPr id="14" name="Image 2" descr="preencoded.png"/>
          <p:cNvPicPr>
            <a:picLocks noChangeAspect="1"/>
          </p:cNvPicPr>
          <p:nvPr/>
        </p:nvPicPr>
        <p:blipFill>
          <a:blip r:embed="rId5">
            <a:duotone>
              <a:schemeClr val="accent2">
                <a:shade val="45000"/>
                <a:satMod val="135000"/>
              </a:schemeClr>
              <a:prstClr val="white"/>
            </a:duotone>
          </a:blip>
          <a:stretch>
            <a:fillRect/>
          </a:stretch>
        </p:blipFill>
        <p:spPr>
          <a:xfrm>
            <a:off x="5875020" y="3529584"/>
            <a:ext cx="438912" cy="438912"/>
          </a:xfrm>
          <a:prstGeom prst="rect">
            <a:avLst/>
          </a:prstGeom>
        </p:spPr>
      </p:pic>
      <p:sp>
        <p:nvSpPr>
          <p:cNvPr id="15" name="Text 10"/>
          <p:cNvSpPr/>
          <p:nvPr/>
        </p:nvSpPr>
        <p:spPr>
          <a:xfrm>
            <a:off x="5180076" y="4343400"/>
            <a:ext cx="182880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Compile</a:t>
            </a:r>
            <a:endParaRPr lang="en-US" sz="1250" dirty="0"/>
          </a:p>
        </p:txBody>
      </p:sp>
      <p:sp>
        <p:nvSpPr>
          <p:cNvPr id="16" name="Text 11"/>
          <p:cNvSpPr/>
          <p:nvPr/>
        </p:nvSpPr>
        <p:spPr>
          <a:xfrm>
            <a:off x="5180076" y="4709160"/>
            <a:ext cx="1828800" cy="640080"/>
          </a:xfrm>
          <a:prstGeom prst="rect">
            <a:avLst/>
          </a:prstGeom>
          <a:noFill/>
          <a:ln/>
        </p:spPr>
        <p:txBody>
          <a:bodyPr wrap="square" lIns="0" tIns="0" rIns="0" bIns="0" rtlCol="0" anchor="ctr"/>
          <a:lstStyle/>
          <a:p>
            <a:pPr marL="0" indent="0" algn="ctr">
              <a:lnSpc>
                <a:spcPts val="1200"/>
              </a:lnSpc>
              <a:buNone/>
            </a:pPr>
            <a:r>
              <a:rPr lang="en-US" sz="950" dirty="0">
                <a:solidFill>
                  <a:srgbClr val="C7D2EF"/>
                </a:solidFill>
                <a:latin typeface="Calibri" pitchFamily="34" charset="0"/>
                <a:ea typeface="Calibri" pitchFamily="34" charset="-122"/>
                <a:cs typeface="Calibri" pitchFamily="34" charset="-120"/>
              </a:rPr>
              <a:t>NetBeans meng-compile otomatis</a:t>
            </a:r>
            <a:endParaRPr lang="en-US" sz="950" dirty="0"/>
          </a:p>
        </p:txBody>
      </p:sp>
      <p:sp>
        <p:nvSpPr>
          <p:cNvPr id="17" name="Shape 12"/>
          <p:cNvSpPr/>
          <p:nvPr/>
        </p:nvSpPr>
        <p:spPr>
          <a:xfrm>
            <a:off x="7930134" y="3291840"/>
            <a:ext cx="914400" cy="914400"/>
          </a:xfrm>
          <a:prstGeom prst="ellipse">
            <a:avLst/>
          </a:prstGeom>
          <a:solidFill>
            <a:srgbClr val="141B45"/>
          </a:solidFill>
          <a:ln/>
        </p:spPr>
      </p:sp>
      <p:pic>
        <p:nvPicPr>
          <p:cNvPr id="18" name="Image 3" descr="preencoded.png"/>
          <p:cNvPicPr>
            <a:picLocks noChangeAspect="1"/>
          </p:cNvPicPr>
          <p:nvPr/>
        </p:nvPicPr>
        <p:blipFill>
          <a:blip r:embed="rId6">
            <a:duotone>
              <a:schemeClr val="accent5">
                <a:shade val="45000"/>
                <a:satMod val="135000"/>
              </a:schemeClr>
              <a:prstClr val="white"/>
            </a:duotone>
          </a:blip>
          <a:stretch>
            <a:fillRect/>
          </a:stretch>
        </p:blipFill>
        <p:spPr>
          <a:xfrm>
            <a:off x="8167878" y="3529584"/>
            <a:ext cx="438912" cy="438912"/>
          </a:xfrm>
          <a:prstGeom prst="rect">
            <a:avLst/>
          </a:prstGeom>
        </p:spPr>
      </p:pic>
      <p:sp>
        <p:nvSpPr>
          <p:cNvPr id="19" name="Text 13"/>
          <p:cNvSpPr/>
          <p:nvPr/>
        </p:nvSpPr>
        <p:spPr>
          <a:xfrm>
            <a:off x="7472934" y="4343400"/>
            <a:ext cx="182880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Run Main.java</a:t>
            </a:r>
            <a:endParaRPr lang="en-US" sz="1250" dirty="0"/>
          </a:p>
        </p:txBody>
      </p:sp>
      <p:sp>
        <p:nvSpPr>
          <p:cNvPr id="20" name="Text 14"/>
          <p:cNvSpPr/>
          <p:nvPr/>
        </p:nvSpPr>
        <p:spPr>
          <a:xfrm>
            <a:off x="7472934" y="4709160"/>
            <a:ext cx="1828800" cy="640080"/>
          </a:xfrm>
          <a:prstGeom prst="rect">
            <a:avLst/>
          </a:prstGeom>
          <a:noFill/>
          <a:ln/>
        </p:spPr>
        <p:txBody>
          <a:bodyPr wrap="square" lIns="0" tIns="0" rIns="0" bIns="0" rtlCol="0" anchor="ctr"/>
          <a:lstStyle/>
          <a:p>
            <a:pPr marL="0" indent="0" algn="ctr">
              <a:lnSpc>
                <a:spcPts val="1200"/>
              </a:lnSpc>
              <a:buNone/>
            </a:pPr>
            <a:r>
              <a:rPr lang="en-US" sz="950" dirty="0">
                <a:solidFill>
                  <a:srgbClr val="C7D2EF"/>
                </a:solidFill>
                <a:latin typeface="Calibri" pitchFamily="34" charset="0"/>
                <a:ea typeface="Calibri" pitchFamily="34" charset="-122"/>
                <a:cs typeface="Calibri" pitchFamily="34" charset="-120"/>
              </a:rPr>
              <a:t>Klik kanan → Run File (Shift+F6)</a:t>
            </a:r>
            <a:endParaRPr lang="en-US" sz="950" dirty="0"/>
          </a:p>
        </p:txBody>
      </p:sp>
      <p:sp>
        <p:nvSpPr>
          <p:cNvPr id="21" name="Shape 15"/>
          <p:cNvSpPr/>
          <p:nvPr/>
        </p:nvSpPr>
        <p:spPr>
          <a:xfrm>
            <a:off x="10222992" y="3291840"/>
            <a:ext cx="914400" cy="914400"/>
          </a:xfrm>
          <a:prstGeom prst="ellipse">
            <a:avLst/>
          </a:prstGeom>
          <a:solidFill>
            <a:srgbClr val="141B45"/>
          </a:solidFill>
          <a:ln/>
        </p:spPr>
      </p:sp>
      <p:pic>
        <p:nvPicPr>
          <p:cNvPr id="22" name="Image 4" descr="preencoded.png"/>
          <p:cNvPicPr>
            <a:picLocks noChangeAspect="1"/>
          </p:cNvPicPr>
          <p:nvPr/>
        </p:nvPicPr>
        <p:blipFill>
          <a:blip r:embed="rId7">
            <a:duotone>
              <a:schemeClr val="accent4">
                <a:shade val="45000"/>
                <a:satMod val="135000"/>
              </a:schemeClr>
              <a:prstClr val="white"/>
            </a:duotone>
          </a:blip>
          <a:stretch>
            <a:fillRect/>
          </a:stretch>
        </p:blipFill>
        <p:spPr>
          <a:xfrm>
            <a:off x="10460736" y="3529584"/>
            <a:ext cx="438912" cy="438912"/>
          </a:xfrm>
          <a:prstGeom prst="rect">
            <a:avLst/>
          </a:prstGeom>
        </p:spPr>
      </p:pic>
      <p:sp>
        <p:nvSpPr>
          <p:cNvPr id="23" name="Text 16"/>
          <p:cNvSpPr/>
          <p:nvPr/>
        </p:nvSpPr>
        <p:spPr>
          <a:xfrm>
            <a:off x="9765792" y="4343400"/>
            <a:ext cx="182880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Aplikasi Tampil</a:t>
            </a:r>
            <a:endParaRPr lang="en-US" sz="1250" dirty="0"/>
          </a:p>
        </p:txBody>
      </p:sp>
      <p:sp>
        <p:nvSpPr>
          <p:cNvPr id="24" name="Text 17"/>
          <p:cNvSpPr/>
          <p:nvPr/>
        </p:nvSpPr>
        <p:spPr>
          <a:xfrm>
            <a:off x="9765792" y="4709160"/>
            <a:ext cx="1828800" cy="640080"/>
          </a:xfrm>
          <a:prstGeom prst="rect">
            <a:avLst/>
          </a:prstGeom>
          <a:noFill/>
          <a:ln/>
        </p:spPr>
        <p:txBody>
          <a:bodyPr wrap="square" lIns="0" tIns="0" rIns="0" bIns="0" rtlCol="0" anchor="ctr"/>
          <a:lstStyle/>
          <a:p>
            <a:pPr marL="0" indent="0" algn="ctr">
              <a:lnSpc>
                <a:spcPts val="1200"/>
              </a:lnSpc>
              <a:buNone/>
            </a:pPr>
            <a:r>
              <a:rPr lang="en-US" sz="950" dirty="0">
                <a:solidFill>
                  <a:srgbClr val="C7D2EF"/>
                </a:solidFill>
                <a:latin typeface="Calibri" pitchFamily="34" charset="0"/>
                <a:ea typeface="Calibri" pitchFamily="34" charset="-122"/>
                <a:cs typeface="Calibri" pitchFamily="34" charset="-120"/>
              </a:rPr>
              <a:t>Jendela kasir siap digunakan</a:t>
            </a:r>
            <a:endParaRPr lang="en-US" sz="950" dirty="0"/>
          </a:p>
        </p:txBody>
      </p:sp>
      <p:sp>
        <p:nvSpPr>
          <p:cNvPr id="25" name="Text 18"/>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5A6472"/>
                </a:solidFill>
                <a:latin typeface="Calibri" pitchFamily="34" charset="0"/>
                <a:ea typeface="Calibri" pitchFamily="34" charset="-122"/>
                <a:cs typeface="Calibri" pitchFamily="34" charset="-120"/>
              </a:rPr>
              <a:t>Aplikasi Kasir Sederhana – Java Swing &amp; NetBeans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645920" y="3840480"/>
            <a:ext cx="4754880" cy="4754880"/>
          </a:xfrm>
          <a:prstGeom prst="ellipse">
            <a:avLst/>
          </a:prstGeom>
          <a:solidFill>
            <a:srgbClr val="141B45"/>
          </a:solidFill>
          <a:ln/>
        </p:spPr>
      </p:sp>
      <p:sp>
        <p:nvSpPr>
          <p:cNvPr id="3" name="Text 1"/>
          <p:cNvSpPr/>
          <p:nvPr/>
        </p:nvSpPr>
        <p:spPr>
          <a:xfrm>
            <a:off x="548640" y="502920"/>
            <a:ext cx="9144000" cy="292608"/>
          </a:xfrm>
          <a:prstGeom prst="rect">
            <a:avLst/>
          </a:prstGeom>
          <a:noFill/>
          <a:ln/>
        </p:spPr>
        <p:txBody>
          <a:bodyPr wrap="square" lIns="0" tIns="0" rIns="0" bIns="0" rtlCol="0" anchor="ctr"/>
          <a:lstStyle/>
          <a:p>
            <a:pPr marL="0" indent="0">
              <a:buNone/>
            </a:pPr>
            <a:r>
              <a:rPr lang="en-US" sz="1200" b="1" kern="0" spc="150" dirty="0">
                <a:solidFill>
                  <a:srgbClr val="CADCFC"/>
                </a:solidFill>
                <a:latin typeface="Calibri" pitchFamily="34" charset="0"/>
                <a:ea typeface="Calibri" pitchFamily="34" charset="-122"/>
                <a:cs typeface="Calibri" pitchFamily="34" charset="-120"/>
              </a:rPr>
              <a:t>PENUTUP</a:t>
            </a:r>
            <a:endParaRPr lang="en-US" sz="1200" dirty="0"/>
          </a:p>
        </p:txBody>
      </p:sp>
      <p:sp>
        <p:nvSpPr>
          <p:cNvPr id="4" name="Text 2"/>
          <p:cNvSpPr/>
          <p:nvPr/>
        </p:nvSpPr>
        <p:spPr>
          <a:xfrm>
            <a:off x="548640" y="822960"/>
            <a:ext cx="1078992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Kesimpulan &amp; Pengembangan Lanjutan</a:t>
            </a:r>
            <a:endParaRPr lang="en-US" sz="2800" dirty="0"/>
          </a:p>
        </p:txBody>
      </p:sp>
      <p:sp>
        <p:nvSpPr>
          <p:cNvPr id="5" name="Shape 3"/>
          <p:cNvSpPr/>
          <p:nvPr/>
        </p:nvSpPr>
        <p:spPr>
          <a:xfrm>
            <a:off x="548640" y="1737360"/>
            <a:ext cx="5394960" cy="4160520"/>
          </a:xfrm>
          <a:prstGeom prst="roundRect">
            <a:avLst>
              <a:gd name="adj" fmla="val 1978"/>
            </a:avLst>
          </a:prstGeom>
          <a:solidFill>
            <a:srgbClr val="141B45"/>
          </a:solidFill>
          <a:ln/>
          <a:effectLst>
            <a:outerShdw blurRad="101600" dist="38100" dir="2700000" algn="bl" rotWithShape="0">
              <a:srgbClr val="000000">
                <a:alpha val="12000"/>
              </a:srgbClr>
            </a:outerShdw>
          </a:effectLst>
        </p:spPr>
      </p:sp>
      <p:sp>
        <p:nvSpPr>
          <p:cNvPr id="6" name="Text 4"/>
          <p:cNvSpPr/>
          <p:nvPr/>
        </p:nvSpPr>
        <p:spPr>
          <a:xfrm>
            <a:off x="822960" y="1965960"/>
            <a:ext cx="484632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Kesimpulan</a:t>
            </a:r>
            <a:endParaRPr lang="en-US" sz="1600" dirty="0"/>
          </a:p>
        </p:txBody>
      </p:sp>
      <p:sp>
        <p:nvSpPr>
          <p:cNvPr id="7" name="Text 5"/>
          <p:cNvSpPr/>
          <p:nvPr/>
        </p:nvSpPr>
        <p:spPr>
          <a:xfrm>
            <a:off x="822960" y="2423160"/>
            <a:ext cx="4846320" cy="3291840"/>
          </a:xfrm>
          <a:prstGeom prst="rect">
            <a:avLst/>
          </a:prstGeom>
          <a:noFill/>
          <a:ln/>
        </p:spPr>
        <p:txBody>
          <a:bodyPr wrap="square" lIns="0" tIns="0" rIns="0" bIns="0" rtlCol="0" anchor="ctr"/>
          <a:lstStyle/>
          <a:p>
            <a:pPr marL="0" indent="0">
              <a:lnSpc>
                <a:spcPts val="1900"/>
              </a:lnSpc>
              <a:buNone/>
            </a:pPr>
            <a:r>
              <a:rPr lang="en-US" sz="1250" dirty="0">
                <a:solidFill>
                  <a:srgbClr val="D8E2F7"/>
                </a:solidFill>
                <a:latin typeface="Calibri" pitchFamily="34" charset="0"/>
                <a:ea typeface="Calibri" pitchFamily="34" charset="-122"/>
                <a:cs typeface="Calibri" pitchFamily="34" charset="-120"/>
              </a:rPr>
              <a:t>Aplikasi kasir sederhana berhasil dibangun menggunakan Java Swing pada NetBeans, tanpa database maupun server. Program menjalankan fungsi dasar POS: menampilkan produk, mengelola keranjang, memvalidasi stok &amp; pembayaran, menghitung kembalian, serta mencetak struk — seluruh pengujian fungsional berjalan sesuai harapan.</a:t>
            </a:r>
            <a:endParaRPr lang="en-US" sz="1250" dirty="0"/>
          </a:p>
        </p:txBody>
      </p:sp>
      <p:sp>
        <p:nvSpPr>
          <p:cNvPr id="8" name="Shape 6"/>
          <p:cNvSpPr/>
          <p:nvPr/>
        </p:nvSpPr>
        <p:spPr>
          <a:xfrm>
            <a:off x="6263640" y="1737360"/>
            <a:ext cx="5394960" cy="4160520"/>
          </a:xfrm>
          <a:prstGeom prst="roundRect">
            <a:avLst>
              <a:gd name="adj" fmla="val 1978"/>
            </a:avLst>
          </a:prstGeom>
          <a:solidFill>
            <a:srgbClr val="141B45"/>
          </a:solidFill>
          <a:ln/>
          <a:effectLst>
            <a:outerShdw blurRad="101600" dist="38100" dir="2700000" algn="bl" rotWithShape="0">
              <a:srgbClr val="000000">
                <a:alpha val="12000"/>
              </a:srgbClr>
            </a:outerShdw>
          </a:effectLst>
        </p:spPr>
      </p:sp>
      <p:sp>
        <p:nvSpPr>
          <p:cNvPr id="9" name="Text 7"/>
          <p:cNvSpPr/>
          <p:nvPr/>
        </p:nvSpPr>
        <p:spPr>
          <a:xfrm>
            <a:off x="6537960" y="1965960"/>
            <a:ext cx="484632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Saran Pengembangan</a:t>
            </a:r>
            <a:endParaRPr lang="en-US" sz="1600" dirty="0"/>
          </a:p>
        </p:txBody>
      </p:sp>
      <p:sp>
        <p:nvSpPr>
          <p:cNvPr id="10" name="Text 8"/>
          <p:cNvSpPr/>
          <p:nvPr/>
        </p:nvSpPr>
        <p:spPr>
          <a:xfrm>
            <a:off x="6537960" y="2423160"/>
            <a:ext cx="4846320" cy="3200400"/>
          </a:xfrm>
          <a:prstGeom prst="rect">
            <a:avLst/>
          </a:prstGeom>
          <a:noFill/>
          <a:ln/>
        </p:spPr>
        <p:txBody>
          <a:bodyPr wrap="square" lIns="0" tIns="0" rIns="0" bIns="0" rtlCol="0" anchor="ctr"/>
          <a:lstStyle/>
          <a:p>
            <a:pPr marL="342900" indent="-342900">
              <a:lnSpc>
                <a:spcPts val="1800"/>
              </a:lnSpc>
              <a:spcAft>
                <a:spcPts val="1200"/>
              </a:spcAft>
              <a:buSzPct val="100000"/>
              <a:buChar char="✦"/>
            </a:pPr>
            <a:r>
              <a:rPr lang="en-US" sz="1250" dirty="0">
                <a:solidFill>
                  <a:srgbClr val="D8E2F7"/>
                </a:solidFill>
                <a:latin typeface="Calibri" pitchFamily="34" charset="0"/>
                <a:ea typeface="Calibri" pitchFamily="34" charset="-122"/>
                <a:cs typeface="Calibri" pitchFamily="34" charset="-120"/>
              </a:rPr>
              <a:t>Menambahkan penyimpanan permanen (file atau database).</a:t>
            </a:r>
            <a:endParaRPr lang="en-US" sz="1250" dirty="0"/>
          </a:p>
          <a:p>
            <a:pPr marL="342900" indent="-342900">
              <a:lnSpc>
                <a:spcPts val="1800"/>
              </a:lnSpc>
              <a:spcAft>
                <a:spcPts val="1200"/>
              </a:spcAft>
              <a:buSzPct val="100000"/>
              <a:buChar char="✦"/>
            </a:pPr>
            <a:r>
              <a:rPr lang="en-US" sz="1250" dirty="0">
                <a:solidFill>
                  <a:srgbClr val="D8E2F7"/>
                </a:solidFill>
                <a:latin typeface="Calibri" pitchFamily="34" charset="0"/>
                <a:ea typeface="Calibri" pitchFamily="34" charset="-122"/>
                <a:cs typeface="Calibri" pitchFamily="34" charset="-120"/>
              </a:rPr>
              <a:t>Fitur login untuk kasir dan admin.</a:t>
            </a:r>
            <a:endParaRPr lang="en-US" sz="1250" dirty="0"/>
          </a:p>
          <a:p>
            <a:pPr marL="342900" indent="-342900">
              <a:lnSpc>
                <a:spcPts val="1800"/>
              </a:lnSpc>
              <a:spcAft>
                <a:spcPts val="1200"/>
              </a:spcAft>
              <a:buSzPct val="100000"/>
              <a:buChar char="✦"/>
            </a:pPr>
            <a:r>
              <a:rPr lang="en-US" sz="1250" dirty="0">
                <a:solidFill>
                  <a:srgbClr val="D8E2F7"/>
                </a:solidFill>
                <a:latin typeface="Calibri" pitchFamily="34" charset="0"/>
                <a:ea typeface="Calibri" pitchFamily="34" charset="-122"/>
                <a:cs typeface="Calibri" pitchFamily="34" charset="-120"/>
              </a:rPr>
              <a:t>Pencarian produk dan kategori barang.</a:t>
            </a:r>
            <a:endParaRPr lang="en-US" sz="1250" dirty="0"/>
          </a:p>
          <a:p>
            <a:pPr marL="342900" indent="-342900">
              <a:lnSpc>
                <a:spcPts val="1800"/>
              </a:lnSpc>
              <a:spcAft>
                <a:spcPts val="1200"/>
              </a:spcAft>
              <a:buSzPct val="100000"/>
              <a:buChar char="✦"/>
            </a:pPr>
            <a:r>
              <a:rPr lang="en-US" sz="1250" dirty="0">
                <a:solidFill>
                  <a:srgbClr val="D8E2F7"/>
                </a:solidFill>
                <a:latin typeface="Calibri" pitchFamily="34" charset="0"/>
                <a:ea typeface="Calibri" pitchFamily="34" charset="-122"/>
                <a:cs typeface="Calibri" pitchFamily="34" charset="-120"/>
              </a:rPr>
              <a:t>Tampilan antarmuka yang lebih interaktif.</a:t>
            </a:r>
            <a:endParaRPr lang="en-US" sz="1250" dirty="0"/>
          </a:p>
        </p:txBody>
      </p:sp>
      <p:sp>
        <p:nvSpPr>
          <p:cNvPr id="11" name="Text 9"/>
          <p:cNvSpPr/>
          <p:nvPr/>
        </p:nvSpPr>
        <p:spPr>
          <a:xfrm>
            <a:off x="548640" y="6172200"/>
            <a:ext cx="7315200" cy="365760"/>
          </a:xfrm>
          <a:prstGeom prst="rect">
            <a:avLst/>
          </a:prstGeom>
          <a:noFill/>
          <a:ln/>
        </p:spPr>
        <p:txBody>
          <a:bodyPr wrap="square" lIns="0" tIns="0" rIns="0" bIns="0" rtlCol="0" anchor="ctr"/>
          <a:lstStyle/>
          <a:p>
            <a:pPr marL="0" indent="0">
              <a:buNone/>
            </a:pPr>
            <a:r>
              <a:rPr lang="en-US" sz="1500" i="1" dirty="0">
                <a:solidFill>
                  <a:srgbClr val="CADCFC"/>
                </a:solidFill>
                <a:latin typeface="Cambria" pitchFamily="34" charset="0"/>
                <a:ea typeface="Cambria" pitchFamily="34" charset="-122"/>
                <a:cs typeface="Cambria" pitchFamily="34" charset="-120"/>
              </a:rPr>
              <a:t>Terima Kasih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1403</Words>
  <Application>Microsoft Office PowerPoint</Application>
  <PresentationFormat>Widescreen</PresentationFormat>
  <Paragraphs>202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Aplikasi Kasir (Point of Sale) Sederhana</dc:title>
  <dc:subject>PptxGenJS Presentation</dc:subject>
  <dc:creator>Tugas Kuliah</dc:creator>
  <cp:lastModifiedBy>R. Mahendra</cp:lastModifiedBy>
  <cp:revision>3</cp:revision>
  <dcterms:created xsi:type="dcterms:W3CDTF">2026-07-08T23:43:20Z</dcterms:created>
  <dcterms:modified xsi:type="dcterms:W3CDTF">2026-07-09T05:40:10Z</dcterms:modified>
</cp:coreProperties>
</file>